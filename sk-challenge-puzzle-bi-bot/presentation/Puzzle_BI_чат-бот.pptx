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</c:v>
                </c:pt>
              </c:strCache>
            </c:strRef>
          </c:tx>
          <c:dPt>
            <c:idx val="0"/>
            <c:spPr>
              <a:solidFill>
                <a:srgbClr val="E5383B"/>
              </a:solidFill>
            </c:spPr>
          </c:dPt>
          <c:dPt>
            <c:idx val="1"/>
            <c:spPr>
              <a:solidFill>
                <a:srgbClr val="FF8A3D"/>
              </a:solidFill>
            </c:spPr>
          </c:dPt>
          <c:dPt>
            <c:idx val="2"/>
            <c:spPr>
              <a:solidFill>
                <a:srgbClr val="FF8A3D"/>
              </a:solidFill>
            </c:spPr>
          </c:dPt>
          <c:dPt>
            <c:idx val="3"/>
            <c:spPr>
              <a:solidFill>
                <a:srgbClr val="3D5AFE"/>
              </a:solidFill>
            </c:spPr>
          </c:dPt>
          <c:dPt>
            <c:idx val="4"/>
            <c:spPr>
              <a:solidFill>
                <a:srgbClr val="12A150"/>
              </a:solidFill>
            </c:spPr>
          </c:dPt>
          <c:dPt>
            <c:idx val="5"/>
            <c:spPr>
              <a:solidFill>
                <a:srgbClr val="12A15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E5383B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58%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FF8A3D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67%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FF8A3D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80%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3D5AFE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100%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12A15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100%</a:t>
                    </a:r>
                  </a:p>
                </c:rich>
              </c:tx>
              <c:txPr>
                <a:bodyPr/>
                <a:lstStyle/>
                <a:p>
                  <a:pPr>
                    <a:defRPr sz="1200">
                      <a:solidFill>
                        <a:srgbClr val="12A15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Резюме и таблица (2 фразы)</c:v>
                </c:pt>
                <c:pt idx="1">
                  <c:v>Построение дашборда (12 фраз)</c:v>
                </c:pt>
                <c:pt idx="2">
                  <c:v>Сохранение и история (6 фраз)</c:v>
                </c:pt>
                <c:pt idx="3">
                  <c:v>Вычисления (5 фраз)</c:v>
                </c:pt>
                <c:pt idx="4">
                  <c:v>Правка графиков (3 фразы)</c:v>
                </c:pt>
                <c:pt idx="5">
                  <c:v>Фильтры и переключатели (7 фраз)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0.004</c:v>
                </c:pt>
                <c:pt idx="1">
                  <c:v>0.58</c:v>
                </c:pt>
                <c:pt idx="2">
                  <c:v>0.67</c:v>
                </c:pt>
                <c:pt idx="3">
                  <c:v>0.8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F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141B34"/>
          </a:solidFill>
          <a:latin typeface="Evolvent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20 секунд. Решение кейса Puzzle RPA: чат-бот, который по вопросу на русском строит интерактивный дашборд прямо в чате. Главная идея: LLM не пишет код, поэтому решение безопасно по устройству. Код и данные лежат на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50 секунд. Сейчас нестандартный вопрос руководителя уходит аналитику или упирается в отсутствие отчета в BI. Бот дает ответ за секунды и позволяет продолжить анализ фразами. Важно для крупной компании, что все цифры считает код, а модель только выбирает команду. QR-коды ведут на код и на живой дашборд.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1 минута. Решение устроено в три слоя. Первый понимает вопрос, это правила и бесплатная LLM, и он может ошибаться. Второй слой, каталог, это контракт с данными: в нем описаны разрезы и метрики, все остальное отбрасывается. Это граница доверия. Третий слой собирает SQL и считает цифры обычным кодом. Поэтому бот безопасен, не выдумывает числа и переносится на Oracle клиента через каталог.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40 секунд. Бот разбит на маленькие модули. Каталог, разбор текста, LLM, база, вычисления, диалог, хранилище и дашборд. Фронтенд без сборки, Plotly лежит в проекте, поэтому дашборд и экспорт работают без интернета.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50 секунд. В кейсе отдельно сказано, что генерируемый код не должен удалять, менять, ходить в сеть и зависать. У меня каждое требование закрыто механизмом и тестом. Все 11 проверок проходят, их можно запустить одной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50 секунд. Так выглядит ответ. Сверху KPI, план 1,25 млрд, факт 1,13, выполнение 90,4%. Ниже фильтры с поиском и переключатели. Четыре графика из одной таблицы, внизу резюме. Резюме считает код, поэтому цифры в тексте всегда совпадают с графиками.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50 секунд. Сценарий из кейса. Добавляю колонку с процентом выполнения, бот выделяет ее в таблице. Фильтр по региону сужает список точек. Сохраняю два дашборда и открываю список. Открытый дашборд восстанавливается в том же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1 минута. Все 38 запросов из кейса бот понимает. На 35 новых фразах первый прогон дал 25 верных. Хуже всего первый запрос на дашборд, 58%: люди начинают разговор самыми разными словами. Поэтому бесплатная LLM подключается именно там, где правила не узнали фразу. Ошибки трех типов: незнакомое слово, перепутанный смысл и ложное совпадение имени. Все исправлены, а бот всегда показывает, как понял запрос.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Тайминг 40 секунд. Для внедрения у клиента не нужно переписывать бота. Описываем Oracle в каталоге, подключаем к корпоративному чату, ставим LLM в контур клиента и выдаем роли базы. Запуск двумя командами, тесты одной.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43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22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6000" y="1044000"/>
            <a:ext cx="2882160" cy="2700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Intro"/>
              </a:rPr>
              <a:t>Кейс Puzzle RPA, SK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620000"/>
            <a:ext cx="5580000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0">
                <a:solidFill>
                  <a:srgbClr val="141B34"/>
                </a:solidFill>
                <a:latin typeface="Peace Sans"/>
              </a:rPr>
              <a:t>BI чат-бот с дашбордами по вопросу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3816000"/>
            <a:ext cx="50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41B34"/>
                </a:solidFill>
                <a:latin typeface="Intro"/>
              </a:rPr>
              <a:t>Менеджер пишет вопрос на русском и получает живой дашборд прямо в переписке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184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Автор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472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Evolventa"/>
              </a:rPr>
              <a:t>Александр Корнилович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5868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D5AFE"/>
                </a:solidFill>
                <a:latin typeface="Evolventa"/>
              </a:rPr>
              <a:t>github.com/alkornilovich/cases/tree/main/sk-challenge-puzzle-bi-bot</a:t>
            </a:r>
          </a:p>
        </p:txBody>
      </p:sp>
      <p:pic>
        <p:nvPicPr>
          <p:cNvPr id="9" name="Picture 8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00" y="983520"/>
            <a:ext cx="6361200" cy="508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3999" y="190800"/>
            <a:ext cx="102294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01  </a:t>
            </a:r>
            <a:r>
              <a:rPr sz="1050" b="0">
                <a:solidFill>
                  <a:srgbClr val="FFFFFF"/>
                </a:solidFill>
                <a:latin typeface="Intro"/>
              </a:rPr>
              <a:t>Задача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02  </a:t>
            </a:r>
            <a:r>
              <a:rPr sz="1050" b="0">
                <a:solidFill>
                  <a:srgbClr val="141B34"/>
                </a:solidFill>
                <a:latin typeface="Intro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04  </a:t>
            </a:r>
            <a:r>
              <a:rPr sz="1050" b="0">
                <a:solidFill>
                  <a:srgbClr val="141B34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Задача и ценность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Руководитель получает ответ на вопрос о продажах за секунды, без заявки аналитику и без поиска отчета в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5742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782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D5AFE"/>
                </a:solidFill>
                <a:latin typeface="Intro"/>
              </a:rPr>
              <a:t>Что мешает сейчас</a:t>
            </a:r>
          </a:p>
        </p:txBody>
      </p:sp>
      <p:pic>
        <p:nvPicPr>
          <p:cNvPr id="15" name="Picture 14" descr="i_clo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232000"/>
            <a:ext cx="342000" cy="34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2000" y="2214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Ответ ждут от аналитика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" y="2502000"/>
            <a:ext cx="48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Нестандартный вопрос уходит в очередь, и решение принимают без цифр</a:t>
            </a:r>
          </a:p>
        </p:txBody>
      </p:sp>
      <p:pic>
        <p:nvPicPr>
          <p:cNvPr id="18" name="Picture 17" descr="i_file-question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564000"/>
            <a:ext cx="342000" cy="34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2000" y="3546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Нужного отчета нет в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" y="3834000"/>
            <a:ext cx="48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Готовые отчеты покрывают стандартные метрики, а разрез «отстающие точки Урала» в них не заложен</a:t>
            </a:r>
          </a:p>
        </p:txBody>
      </p:sp>
      <p:pic>
        <p:nvPicPr>
          <p:cNvPr id="21" name="Picture 20" descr="i_triangle-aler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896000"/>
            <a:ext cx="342000" cy="34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2000" y="4878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Код от LLM рискует данными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" y="5166000"/>
            <a:ext cx="48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Модель, которая сама пишет SQL, может ошибиться в цифре или в запросе к рабочей базе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3999" y="1638000"/>
            <a:ext cx="5742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2000" y="1782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D5AFE"/>
                </a:solidFill>
                <a:latin typeface="Intro"/>
              </a:rPr>
              <a:t>Что дает бот</a:t>
            </a:r>
          </a:p>
        </p:txBody>
      </p:sp>
      <p:pic>
        <p:nvPicPr>
          <p:cNvPr id="26" name="Picture 25" descr="i_zap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000" y="2232000"/>
            <a:ext cx="342000" cy="342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76000" y="2214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Ответ за секунды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000" y="2502000"/>
            <a:ext cx="4896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Вопрос словами превращается в KPI, фильтры и 4 графика, выгрузка данных занимает меньше секунды</a:t>
            </a:r>
          </a:p>
        </p:txBody>
      </p:sp>
      <p:pic>
        <p:nvPicPr>
          <p:cNvPr id="29" name="Picture 28" descr="i_refresh-cw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000" y="3114000"/>
            <a:ext cx="342000" cy="34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76000" y="3096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Анализ продолжается диалогом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000" y="3384000"/>
            <a:ext cx="4896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Новая колонка, другой разрез или фильтр одной фразой, без разработчика и нового отчета</a:t>
            </a:r>
          </a:p>
        </p:txBody>
      </p:sp>
      <p:pic>
        <p:nvPicPr>
          <p:cNvPr id="32" name="Picture 31" descr="i_shield-check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00" y="3996000"/>
            <a:ext cx="342000" cy="342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76000" y="3978000"/>
            <a:ext cx="48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B34"/>
                </a:solidFill>
                <a:latin typeface="Intro"/>
              </a:rPr>
              <a:t>Цифрам можно доверять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000" y="4266000"/>
            <a:ext cx="4896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Считает код, модель только выбирает команду, поэтому бот не выдумывает числа и не меняет базу</a:t>
            </a:r>
          </a:p>
        </p:txBody>
      </p:sp>
      <p:pic>
        <p:nvPicPr>
          <p:cNvPr id="35" name="Picture 34" descr="qr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000" y="4896000"/>
            <a:ext cx="1296000" cy="129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75999" y="4896000"/>
            <a:ext cx="1224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Код на GitHub</a:t>
            </a:r>
          </a:p>
        </p:txBody>
      </p:sp>
      <p:pic>
        <p:nvPicPr>
          <p:cNvPr id="37" name="Picture 36" descr="qr_de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7999" y="4896000"/>
            <a:ext cx="1296000" cy="129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11999" y="4896000"/>
            <a:ext cx="1224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Живой дашборд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[1] кейс Puzzle RPA «Чат-бот с интерактивной визуализацией данных», SK Challenge 2026; [2] замер времени выгрузки на данных кейса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0139" y="190800"/>
            <a:ext cx="110043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02  </a:t>
            </a:r>
            <a:r>
              <a:rPr sz="1050" b="0">
                <a:solidFill>
                  <a:srgbClr val="FFFFFF"/>
                </a:solidFill>
                <a:latin typeface="Intro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04  </a:t>
            </a:r>
            <a:r>
              <a:rPr sz="1050" b="0">
                <a:solidFill>
                  <a:srgbClr val="141B34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Три слоя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Модель понимает вопрос, каталог задает границу, код считает цифры. Дальше границы модель не проходит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3690000" cy="3311999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000" y="1800000"/>
            <a:ext cx="540000" cy="3420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Peace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000" y="1782000"/>
            <a:ext cx="273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B34"/>
                </a:solidFill>
                <a:latin typeface="Peace Sans"/>
              </a:rPr>
              <a:t>Понимание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250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правила и бесплатная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" y="2556000"/>
            <a:ext cx="3294000" cy="1296000"/>
          </a:xfrm>
          <a:prstGeom prst="roundRect">
            <a:avLst>
              <a:gd name="adj" fmla="val 9722"/>
            </a:avLst>
          </a:prstGeom>
          <a:solidFill>
            <a:srgbClr val="0F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2664000"/>
            <a:ext cx="3024000" cy="11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«План-факт по регионам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за последний год»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4014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8A3D"/>
                </a:solidFill>
                <a:latin typeface="Intro"/>
              </a:rPr>
              <a:t>Может ошибиться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" y="4284000"/>
            <a:ext cx="3311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поэтому ее ответ дальше проверяется</a:t>
            </a:r>
          </a:p>
        </p:txBody>
      </p:sp>
      <p:pic>
        <p:nvPicPr>
          <p:cNvPr id="21" name="Picture 20" descr="i_arrow-right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000" y="3024000"/>
            <a:ext cx="270000" cy="270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248000" y="1638000"/>
            <a:ext cx="3690000" cy="3311999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46000" y="1800000"/>
            <a:ext cx="540000" cy="3420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Peace San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6000" y="1782000"/>
            <a:ext cx="273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B34"/>
                </a:solidFill>
                <a:latin typeface="Peace Sans"/>
              </a:rPr>
              <a:t>Каталог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6000" y="2250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контракт с данными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6000" y="2556000"/>
            <a:ext cx="3294000" cy="1296000"/>
          </a:xfrm>
          <a:prstGeom prst="roundRect">
            <a:avLst>
              <a:gd name="adj" fmla="val 9722"/>
            </a:avLst>
          </a:prstGeom>
          <a:solidFill>
            <a:srgbClr val="0F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000" y="2664000"/>
            <a:ext cx="3024000" cy="11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дашборд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разрез = регион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метрики = план, факт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период = окт 2025 … сен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6000" y="4014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2A150"/>
                </a:solidFill>
                <a:latin typeface="Intro"/>
              </a:rPr>
              <a:t>Отсекает ошибки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6000" y="4284000"/>
            <a:ext cx="3311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все, чего нет в каталоге, отбрасывается</a:t>
            </a:r>
          </a:p>
        </p:txBody>
      </p:sp>
      <p:pic>
        <p:nvPicPr>
          <p:cNvPr id="30" name="Picture 29" descr="i_arrow-right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000" y="3024000"/>
            <a:ext cx="270000" cy="2700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226000" y="1638000"/>
            <a:ext cx="3690000" cy="3311999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24000" y="1800000"/>
            <a:ext cx="540000" cy="3420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Peace San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4000" y="1782000"/>
            <a:ext cx="273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41B34"/>
                </a:solidFill>
                <a:latin typeface="Peace Sans"/>
              </a:rPr>
              <a:t>Исполнение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4000" y="2250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код без генерации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24000" y="2556000"/>
            <a:ext cx="3294000" cy="1296000"/>
          </a:xfrm>
          <a:prstGeom prst="roundRect">
            <a:avLst>
              <a:gd name="adj" fmla="val 9722"/>
            </a:avLst>
          </a:prstGeom>
          <a:solidFill>
            <a:srgbClr val="0F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8000" y="2664000"/>
            <a:ext cx="3024000" cy="11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SELECT region, sum(plan), sum(fact)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FROM sales …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WHERE sale_date &gt;= ?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enlo"/>
              </a:rPr>
              <a:t>→ 33 787 строк → дашборд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4000" y="4014000"/>
            <a:ext cx="3311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2A150"/>
                </a:solidFill>
                <a:latin typeface="Intro"/>
              </a:rPr>
              <a:t>Считает точно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4000" y="4284000"/>
            <a:ext cx="3311999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тот же код на любых данных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1200" y="1638000"/>
            <a:ext cx="0" cy="3312000"/>
          </a:xfrm>
          <a:prstGeom prst="line">
            <a:avLst/>
          </a:prstGeom>
          <a:ln w="25400">
            <a:solidFill>
              <a:srgbClr val="FF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51999" y="5112000"/>
            <a:ext cx="23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8A3D"/>
                </a:solidFill>
                <a:latin typeface="Intro"/>
              </a:rPr>
              <a:t>граница доверия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0000" y="5364000"/>
            <a:ext cx="11646000" cy="1007999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_shield-check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5562000"/>
            <a:ext cx="342000" cy="342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54000" y="552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Безопасность по устройству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000" y="5796000"/>
            <a:ext cx="32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изолировать нечего, генерируемого кода нет</a:t>
            </a:r>
          </a:p>
        </p:txBody>
      </p:sp>
      <p:pic>
        <p:nvPicPr>
          <p:cNvPr id="45" name="Picture 44" descr="i_sigma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000" y="5562000"/>
            <a:ext cx="342000" cy="342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24000" y="552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Цифры без выдумки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4000" y="5796000"/>
            <a:ext cx="32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все числа считает код, модель их не пишет</a:t>
            </a:r>
          </a:p>
        </p:txBody>
      </p:sp>
      <p:pic>
        <p:nvPicPr>
          <p:cNvPr id="48" name="Picture 47" descr="i_databas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000" y="5562000"/>
            <a:ext cx="342000" cy="342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694000" y="552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Новая база за дни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4000" y="5796000"/>
            <a:ext cx="32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для Oracle клиента описывается каталог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[2] код решения, app/nlu.py, app/catalog.py, app/db.py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0139" y="190800"/>
            <a:ext cx="110043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02  </a:t>
            </a:r>
            <a:r>
              <a:rPr sz="1050" b="0">
                <a:solidFill>
                  <a:srgbClr val="FFFFFF"/>
                </a:solidFill>
                <a:latin typeface="Intro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04  </a:t>
            </a:r>
            <a:r>
              <a:rPr sz="1050" b="0">
                <a:solidFill>
                  <a:srgbClr val="141B34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Как устроен 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Семь небольших модулей на Python и чат без сборки фронтенда, запуск двумя командами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6336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782000"/>
            <a:ext cx="57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D5AFE"/>
                </a:solidFill>
                <a:latin typeface="Intro"/>
              </a:rPr>
              <a:t>Модули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2160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catalog.py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2000" y="2160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семантический слой, разрезы, метрики, словари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2664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nlu.py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000" y="2664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разбор русского текста в команду, правила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3168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llm.py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2000" y="3168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бесплатная LLM, ответ проверяется по каталогу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3672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db.py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2000" y="3672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база только на чтение, сборка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" y="4176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compute.py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2000" y="4176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колонки, доли, динамика, накопительный итог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" y="4680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bot.py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2000" y="4680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диалог, состояние дашборда, резюме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" y="5184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store.py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2000" y="5184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сохранение, версии, поиск, копии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" y="5688000"/>
            <a:ext cx="172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dashboard.js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2000" y="5688000"/>
            <a:ext cx="424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KPI, фильтры, каскад, 4 графика Plotly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0000" y="1638000"/>
            <a:ext cx="5166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8000" y="1782000"/>
            <a:ext cx="46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D5AFE"/>
                </a:solidFill>
                <a:latin typeface="Intro"/>
              </a:rPr>
              <a:t>Стек и почему</a:t>
            </a:r>
          </a:p>
        </p:txBody>
      </p:sp>
      <p:pic>
        <p:nvPicPr>
          <p:cNvPr id="33" name="Picture 32" descr="i_server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00" y="2160000"/>
            <a:ext cx="306000" cy="30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80000" y="2142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FastAPI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0000" y="2383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чат и API в одном сервисе</a:t>
            </a:r>
          </a:p>
        </p:txBody>
      </p:sp>
      <p:pic>
        <p:nvPicPr>
          <p:cNvPr id="36" name="Picture 35" descr="i_databas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000" y="2844000"/>
            <a:ext cx="306000" cy="30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80000" y="2826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DuckDB или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0000" y="3067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встроенная база без установки, Postgres по переменной</a:t>
            </a:r>
          </a:p>
        </p:txBody>
      </p:sp>
      <p:pic>
        <p:nvPicPr>
          <p:cNvPr id="39" name="Picture 38" descr="i_table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000" y="3528000"/>
            <a:ext cx="306000" cy="30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80000" y="3510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pandas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0000" y="3751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вычисления после выгрузки, как требует кейс</a:t>
            </a:r>
          </a:p>
        </p:txBody>
      </p:sp>
      <p:pic>
        <p:nvPicPr>
          <p:cNvPr id="42" name="Picture 41" descr="i_layout-dashboar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000" y="4212000"/>
            <a:ext cx="306000" cy="30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80000" y="4194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Plotly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0000" y="4435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зум, подсказки, легенда, работает без интернета</a:t>
            </a:r>
          </a:p>
        </p:txBody>
      </p:sp>
      <p:pic>
        <p:nvPicPr>
          <p:cNvPr id="45" name="Picture 44" descr="i_bo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000" y="4896000"/>
            <a:ext cx="306000" cy="306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80000" y="4878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Ollama или Groq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0000" y="5119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бесплатные LLM, Ollama держит данные внутри компании</a:t>
            </a:r>
          </a:p>
        </p:txBody>
      </p:sp>
      <p:pic>
        <p:nvPicPr>
          <p:cNvPr id="48" name="Picture 47" descr="i_file-spreadsheet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000" y="5580000"/>
            <a:ext cx="306000" cy="30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80000" y="5562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41B34"/>
                </a:solidFill>
                <a:latin typeface="Intro"/>
              </a:rPr>
              <a:t>HTML и Excel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58032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экспорт дашборда и таблицы с вычислениями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[2] код решения на GitHub, README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02  </a:t>
            </a:r>
            <a:r>
              <a:rPr sz="1050" b="0">
                <a:solidFill>
                  <a:srgbClr val="141B34"/>
                </a:solidFill>
                <a:latin typeface="Intro"/>
              </a:rPr>
              <a:t>Решение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3770" y="190800"/>
            <a:ext cx="148788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03  </a:t>
            </a:r>
            <a:r>
              <a:rPr sz="1050" b="0">
                <a:solidFill>
                  <a:srgbClr val="FFFFFF"/>
                </a:solidFill>
                <a:latin typeface="Intro"/>
              </a:rPr>
              <a:t>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04  </a:t>
            </a:r>
            <a:r>
              <a:rPr sz="1050" b="0">
                <a:solidFill>
                  <a:srgbClr val="141B34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Безопасность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Каждое предупреждение из кейса закрыто механизмом и проверено тестом, 11 проверок из 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11646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1800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Требование кейса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0" y="1800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Как закрыто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2000" y="1800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D5AFE"/>
                </a:solidFill>
                <a:latin typeface="Intro"/>
              </a:rPr>
              <a:t>Тест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2358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Код не удаляет и не меняет 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000" y="2358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выполняются только SELECT, роль базы только на чтение</a:t>
            </a:r>
          </a:p>
        </p:txBody>
      </p:sp>
      <p:pic>
        <p:nvPicPr>
          <p:cNvPr id="19" name="Picture 18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2430000"/>
            <a:ext cx="270000" cy="27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52000" y="2358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DELETE и DROP отклонены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999" y="2916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Код не ходит в сеть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0" y="2916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после загрузки данных база отключает доступ к файлам и сети</a:t>
            </a:r>
          </a:p>
        </p:txBody>
      </p:sp>
      <p:pic>
        <p:nvPicPr>
          <p:cNvPr id="23" name="Picture 22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2987999"/>
            <a:ext cx="270000" cy="27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52000" y="291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чтение файла и URL отклонено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3474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Настройки нельзя ослабить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6000" y="3474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конфигурация базы заблокирована</a:t>
            </a:r>
          </a:p>
        </p:txBody>
      </p:sp>
      <p:pic>
        <p:nvPicPr>
          <p:cNvPr id="27" name="Picture 26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3546000"/>
            <a:ext cx="270000" cy="27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2000" y="3474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смена настройки отклонена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999" y="4032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Нет SQL-инъекций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6000" y="4032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имена колонок из каталога, значения передаются параметрами</a:t>
            </a:r>
          </a:p>
        </p:txBody>
      </p:sp>
      <p:pic>
        <p:nvPicPr>
          <p:cNvPr id="31" name="Picture 30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4104000"/>
            <a:ext cx="270000" cy="27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52000" y="4032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DROP в тексте не попал в 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999" y="4590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Код не исполняется бесконечно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6000" y="4590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таймаут 15 секунд и лимит 200 тыс. строк</a:t>
            </a:r>
          </a:p>
        </p:txBody>
      </p:sp>
      <p:pic>
        <p:nvPicPr>
          <p:cNvPr id="35" name="Picture 34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4662000"/>
            <a:ext cx="270000" cy="27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52000" y="4590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прерывание по таймеру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999" y="5148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Формулы без кода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6000" y="5148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только + − × ÷, числа и колонки, деление на ноль дает пусто</a:t>
            </a:r>
          </a:p>
        </p:txBody>
      </p:sp>
      <p:pic>
        <p:nvPicPr>
          <p:cNvPr id="39" name="Picture 38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5220000"/>
            <a:ext cx="270000" cy="27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52000" y="5148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возведение в степень и код отклонены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5706000"/>
            <a:ext cx="316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Intro"/>
              </a:rPr>
              <a:t>Пустые данные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6000" y="5706000"/>
            <a:ext cx="489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B34"/>
                </a:solidFill>
                <a:latin typeface="Evolventa"/>
              </a:rPr>
              <a:t>понятный ответ вместо ошибки, графики показывают «нет данных»</a:t>
            </a:r>
          </a:p>
        </p:txBody>
      </p:sp>
      <p:pic>
        <p:nvPicPr>
          <p:cNvPr id="43" name="Picture 42" descr="i_che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00" y="5778000"/>
            <a:ext cx="270000" cy="27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52000" y="570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запрос за 2010 год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[1] раздел кейса «Ограничения и подсказки»; [2] tests/test_security.py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02  </a:t>
            </a:r>
            <a:r>
              <a:rPr sz="1050" b="0">
                <a:solidFill>
                  <a:srgbClr val="141B34"/>
                </a:solidFill>
                <a:latin typeface="Intro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4850" y="190800"/>
            <a:ext cx="86796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04  </a:t>
            </a:r>
            <a:r>
              <a:rPr sz="1050" b="0">
                <a:solidFill>
                  <a:srgbClr val="FFFFFF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Дашборд в чате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Ответ на «план-факт по регионам и торговым точкам за последний год», все цифры пересчитываются при каждом фильтре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7776000" cy="473400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42" y="1710000"/>
            <a:ext cx="5259715" cy="4590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90000" y="1638000"/>
            <a:ext cx="3726000" cy="4734000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8000" y="180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Peace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2000" y="17928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KPI с контекстом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2000" y="2088000"/>
            <a:ext cx="2988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факт к плану и к прошлому году, мини-графики по месяцам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8000" y="2718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Peace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2000" y="27108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Фильтры и переключатели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2000" y="3006000"/>
            <a:ext cx="2988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поиск по 300 точкам, мультивыбор, каскад регион → точка, месяц, квартал, год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8000" y="3636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Peace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2000" y="36288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Графики по стандарту IBCS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2000" y="3924000"/>
            <a:ext cx="2988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факт сплошной, план контуром, прошлый год риской, отклонения зеленым и красным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8000" y="4553999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Peace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2000" y="4546800"/>
            <a:ext cx="2988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Резюме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2000" y="4842000"/>
            <a:ext cx="2988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считает код, текст по шаблону, модель не выдумывает цифры</a:t>
            </a:r>
          </a:p>
        </p:txBody>
      </p:sp>
      <p:pic>
        <p:nvPicPr>
          <p:cNvPr id="28" name="Picture 27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00" y="5472000"/>
            <a:ext cx="827999" cy="827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24000" y="5472000"/>
            <a:ext cx="2448000" cy="827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Живой дашборд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[2] скриншот работающего бота на данных кейса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02  </a:t>
            </a:r>
            <a:r>
              <a:rPr sz="1050" b="0">
                <a:solidFill>
                  <a:srgbClr val="141B34"/>
                </a:solidFill>
                <a:latin typeface="Intro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4850" y="190800"/>
            <a:ext cx="86796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04  </a:t>
            </a:r>
            <a:r>
              <a:rPr sz="1050" b="0">
                <a:solidFill>
                  <a:srgbClr val="FFFFFF"/>
                </a:solidFill>
                <a:latin typeface="Intro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05  </a:t>
            </a:r>
            <a:r>
              <a:rPr sz="1050" b="0">
                <a:solidFill>
                  <a:srgbClr val="141B34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Работа диалогом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Вычисления, фильтры и сохранение идут обычными фразами, бот показывает, что именно он сделал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11646000" cy="18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764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D5AFE"/>
                </a:solidFill>
                <a:latin typeface="Intro"/>
              </a:rPr>
              <a:t>«Добавь колонку с процентом выполнения плана»</a:t>
            </a:r>
          </a:p>
        </p:txBody>
      </p:sp>
      <p:pic>
        <p:nvPicPr>
          <p:cNvPr id="15" name="Picture 14" descr="s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75924"/>
            <a:ext cx="11232000" cy="9241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8000" y="3078000"/>
            <a:ext cx="11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Новая колонка выделена в таблице и сразу появляется в переключателе «Метрика», ее можно отменить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000" y="3581999"/>
            <a:ext cx="5742000" cy="27900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370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D5AFE"/>
                </a:solidFill>
                <a:latin typeface="Intro"/>
              </a:rPr>
              <a:t>Каскадный фильтр с поиском</a:t>
            </a:r>
          </a:p>
        </p:txBody>
      </p:sp>
      <p:pic>
        <p:nvPicPr>
          <p:cNvPr id="19" name="Picture 18" descr="s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20" y="3996000"/>
            <a:ext cx="4173559" cy="226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73999" y="3581999"/>
            <a:ext cx="5742000" cy="27900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2000" y="370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D5AFE"/>
                </a:solidFill>
                <a:latin typeface="Intro"/>
              </a:rPr>
              <a:t>«Сохрани как Продажи Центр», «покажи мои дашборды»</a:t>
            </a:r>
          </a:p>
        </p:txBody>
      </p:sp>
      <p:pic>
        <p:nvPicPr>
          <p:cNvPr id="22" name="Picture 21" descr="s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00" y="4132851"/>
            <a:ext cx="5364000" cy="80629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72000" y="5184000"/>
            <a:ext cx="5364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141B34"/>
                </a:solidFill>
                <a:latin typeface="Evolventa"/>
              </a:rPr>
              <a:t>Открытый дашборд восстанавливается с таблицей, вычислениями, графиками и фильтрами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>
                <a:solidFill>
                  <a:srgbClr val="141B34"/>
                </a:solidFill>
                <a:latin typeface="Evolventa"/>
              </a:rPr>
              <a:t>Есть переименование, удаление, копия, поиск по тексту запроса и 20 версий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[2] скриншоты работающего бота, сценарий из приложения к кейсу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01  </a:t>
            </a:r>
            <a:r>
              <a:rPr sz="1050" b="0">
                <a:solidFill>
                  <a:srgbClr val="141B34"/>
                </a:solidFill>
                <a:latin typeface="Intro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02  </a:t>
            </a:r>
            <a:r>
              <a:rPr sz="1050" b="0">
                <a:solidFill>
                  <a:srgbClr val="141B34"/>
                </a:solidFill>
                <a:latin typeface="Intro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03  </a:t>
            </a:r>
            <a:r>
              <a:rPr sz="1050" b="0">
                <a:solidFill>
                  <a:srgbClr val="141B34"/>
                </a:solidFill>
                <a:latin typeface="Intro"/>
              </a:rPr>
              <a:t>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04  </a:t>
            </a:r>
            <a:r>
              <a:rPr sz="1050" b="0">
                <a:solidFill>
                  <a:srgbClr val="141B34"/>
                </a:solidFill>
                <a:latin typeface="Intro"/>
              </a:rPr>
              <a:t>Демо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6010" y="190800"/>
            <a:ext cx="1177920" cy="3024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05  </a:t>
            </a:r>
            <a:r>
              <a:rPr sz="1050" b="0">
                <a:solidFill>
                  <a:srgbClr val="FFFFFF"/>
                </a:solidFill>
                <a:latin typeface="Intro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D5AFE"/>
                </a:solidFill>
                <a:latin typeface="Intro"/>
              </a:rPr>
              <a:t>06  </a:t>
            </a:r>
            <a:r>
              <a:rPr sz="1050" b="0">
                <a:solidFill>
                  <a:srgbClr val="141B34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41B34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41B34"/>
                </a:solidFill>
                <a:latin typeface="Peace Sans"/>
              </a:rPr>
              <a:t>Точность разбора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41B34"/>
                </a:solidFill>
                <a:latin typeface="Intro"/>
              </a:rPr>
              <a:t>Язык кейса бот знает полностью, слабее всего первый запрос на дашборд, туда и направлена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38000"/>
            <a:ext cx="11646000" cy="9900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745999"/>
            <a:ext cx="1655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2A150"/>
                </a:solidFill>
                <a:latin typeface="Peace Sans"/>
              </a:rPr>
              <a:t>38 из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000" y="1782000"/>
            <a:ext cx="198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запросов из приложения к кейсу разобраны верно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000" y="1745999"/>
            <a:ext cx="1655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3D5AFE"/>
                </a:solidFill>
                <a:latin typeface="Peace Sans"/>
              </a:rPr>
              <a:t>25 из 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2000" y="1782000"/>
            <a:ext cx="198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новых фраз верно с первого прогона, без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8000" y="1745999"/>
            <a:ext cx="1655999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8A3D"/>
                </a:solidFill>
                <a:latin typeface="Peace Sans"/>
              </a:rPr>
              <a:t>4 из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2000" y="1782000"/>
            <a:ext cx="198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41B34"/>
                </a:solidFill>
                <a:latin typeface="Evolventa"/>
              </a:rPr>
              <a:t>ошибок бот сам отметил как непонятные и передал бы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0000" y="2754000"/>
            <a:ext cx="5544000" cy="361800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2880000"/>
            <a:ext cx="52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D5AFE"/>
                </a:solidFill>
                <a:latin typeface="Intro"/>
              </a:rPr>
              <a:t>Сравнение точности по группам команд на новых фразах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60000" y="3168000"/>
          <a:ext cx="5364000" cy="309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958000" y="2754000"/>
            <a:ext cx="5958000" cy="361800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6000" y="2880000"/>
            <a:ext cx="55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3D5AFE"/>
                </a:solidFill>
                <a:latin typeface="Intro"/>
              </a:rPr>
              <a:t>Типы ошибок и что с ними делает бот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6000" y="327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Незнакомое слово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72000" y="3167999"/>
            <a:ext cx="86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>
                <a:solidFill>
                  <a:srgbClr val="FF8A3D"/>
                </a:solidFill>
                <a:latin typeface="Peace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6000" y="3546000"/>
            <a:ext cx="46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D5AFE"/>
                </a:solidFill>
                <a:latin typeface="Evolventa"/>
              </a:rPr>
              <a:t>«Выведи план и факт по молочной продукции»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6000" y="3797999"/>
            <a:ext cx="55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LLM разбирает фразу, ответ проверяет каталог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6000" y="426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Перепутан смысл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72000" y="4157999"/>
            <a:ext cx="86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>
                <a:solidFill>
                  <a:srgbClr val="FF8A3D"/>
                </a:solidFill>
                <a:latin typeface="Peace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6000" y="4536000"/>
            <a:ext cx="46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D5AFE"/>
                </a:solidFill>
                <a:latin typeface="Evolventa"/>
              </a:rPr>
              <a:t>«Какие выводы по дашборду?» запускал новый дашборд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6000" y="4788000"/>
            <a:ext cx="55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бот показывает, как понял запрос, шаг отменяется одной фразой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6000" y="5256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B34"/>
                </a:solidFill>
                <a:latin typeface="Intro"/>
              </a:rPr>
              <a:t>Ложное совпадение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72000" y="5148000"/>
            <a:ext cx="864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>
                <a:solidFill>
                  <a:srgbClr val="FF8A3D"/>
                </a:solidFill>
                <a:latin typeface="Peace San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6000" y="5526000"/>
            <a:ext cx="46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D5AFE"/>
                </a:solidFill>
                <a:latin typeface="Evolventa"/>
              </a:rPr>
              <a:t>«супермаркетов» находило клиента «Маркет»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6000" y="5778000"/>
            <a:ext cx="55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B34"/>
                </a:solidFill>
                <a:latin typeface="Evolventa"/>
              </a:rPr>
              <a:t>поиск имен только по целым словам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6000" y="6066000"/>
            <a:ext cx="554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2A150"/>
                </a:solidFill>
                <a:latin typeface="Intro"/>
              </a:rPr>
              <a:t>Все 10 ошибок исправлены, теперь проходят 73 запроса из 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41B34"/>
                </a:solidFill>
                <a:latin typeface="Evolventa"/>
              </a:rPr>
              <a:t>Источники  [2] tests/eval_queries.py, 38 запросов кейса и 35 новых фраз в двух отложенных выборках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41B34"/>
                </a:solidFill>
                <a:latin typeface="Intro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51200"/>
            <a:ext cx="7236540" cy="3816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90800"/>
            <a:ext cx="102294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01  </a:t>
            </a:r>
            <a:r>
              <a:rPr sz="1050" b="0">
                <a:solidFill>
                  <a:srgbClr val="FFFFFF"/>
                </a:solidFill>
                <a:latin typeface="Intro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0139" y="190800"/>
            <a:ext cx="110043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02  </a:t>
            </a:r>
            <a:r>
              <a:rPr sz="1050" b="0">
                <a:solidFill>
                  <a:srgbClr val="FFFFFF"/>
                </a:solidFill>
                <a:latin typeface="Intro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3770" y="190800"/>
            <a:ext cx="148788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03  </a:t>
            </a:r>
            <a:r>
              <a:rPr sz="1050" b="0">
                <a:solidFill>
                  <a:srgbClr val="FFFFFF"/>
                </a:solidFill>
                <a:latin typeface="Intro"/>
              </a:rPr>
              <a:t>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4850" y="190800"/>
            <a:ext cx="86796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04  </a:t>
            </a:r>
            <a:r>
              <a:rPr sz="1050" b="0">
                <a:solidFill>
                  <a:srgbClr val="FFFFFF"/>
                </a:solidFill>
                <a:latin typeface="Intro"/>
              </a:rPr>
              <a:t>Демо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6010" y="190800"/>
            <a:ext cx="117792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05  </a:t>
            </a:r>
            <a:r>
              <a:rPr sz="1050" b="0">
                <a:solidFill>
                  <a:srgbClr val="FFFFFF"/>
                </a:solidFill>
                <a:latin typeface="Intro"/>
              </a:rPr>
              <a:t>Точность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130" y="190800"/>
            <a:ext cx="1255410" cy="3024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7130" y="190800"/>
            <a:ext cx="1255410" cy="30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ro"/>
              </a:rPr>
              <a:t>06  </a:t>
            </a:r>
            <a:r>
              <a:rPr sz="1050" b="0">
                <a:solidFill>
                  <a:srgbClr val="FFFFFF"/>
                </a:solidFill>
                <a:latin typeface="Intro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198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Peace Sans"/>
              </a:rPr>
              <a:t>Puzzle</a:t>
            </a:r>
            <a:r>
              <a:rPr sz="1500" b="0">
                <a:solidFill>
                  <a:srgbClr val="FF8A3D"/>
                </a:solidFill>
                <a:latin typeface="Peace Sans"/>
              </a:rPr>
              <a:t>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19200"/>
            <a:ext cx="1080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Peace Sans"/>
              </a:rPr>
              <a:t>Путь к клиентам Puzzle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72800"/>
            <a:ext cx="11304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Intro"/>
              </a:rPr>
              <a:t>Решение переносится в промышленный контур без переписывания логики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" y="1655999"/>
            <a:ext cx="2754000" cy="2736000"/>
          </a:xfrm>
          <a:prstGeom prst="roundRect">
            <a:avLst>
              <a:gd name="adj" fmla="val 6578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1818000"/>
            <a:ext cx="648000" cy="39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Peace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376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Intro"/>
              </a:rPr>
              <a:t>Oracle клиента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024000"/>
            <a:ext cx="244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Evolventa"/>
              </a:rPr>
              <a:t>описать таблицы клиента в каталоге, SQL собирается тем же кодом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0000" y="1655999"/>
            <a:ext cx="2754000" cy="2736000"/>
          </a:xfrm>
          <a:prstGeom prst="roundRect">
            <a:avLst>
              <a:gd name="adj" fmla="val 6578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1999" y="1818000"/>
            <a:ext cx="648000" cy="39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Peace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1999" y="2376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Intro"/>
              </a:rPr>
              <a:t>Корпоративный чат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3024000"/>
            <a:ext cx="244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Evolventa"/>
              </a:rPr>
              <a:t>подключить API бота к чат-боту Puzzle или Telegram Mini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0000" y="1655999"/>
            <a:ext cx="2754000" cy="2736000"/>
          </a:xfrm>
          <a:prstGeom prst="roundRect">
            <a:avLst>
              <a:gd name="adj" fmla="val 6578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2000" y="1818000"/>
            <a:ext cx="648000" cy="39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Peace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2000" y="2376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Intro"/>
              </a:rPr>
              <a:t>LLM в контуре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2000" y="3024000"/>
            <a:ext cx="244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Evolventa"/>
              </a:rPr>
              <a:t>Ollama на сервере клиента, данные не покидают компанию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0000" y="1655999"/>
            <a:ext cx="2754000" cy="2736000"/>
          </a:xfrm>
          <a:prstGeom prst="roundRect">
            <a:avLst>
              <a:gd name="adj" fmla="val 6578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72000" y="1818000"/>
            <a:ext cx="648000" cy="3960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Peace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000" y="2376000"/>
            <a:ext cx="24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Intro"/>
              </a:rPr>
              <a:t>Права доступа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000" y="3024000"/>
            <a:ext cx="2448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Evolventa"/>
              </a:rPr>
              <a:t>роль базы на пользователя, бот видит только разрешенные строки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0000" y="4536000"/>
            <a:ext cx="11646000" cy="1835999"/>
          </a:xfrm>
          <a:prstGeom prst="roundRect">
            <a:avLst>
              <a:gd name="adj" fmla="val 9803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" y="468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8A3D"/>
                </a:solidFill>
                <a:latin typeface="Intro"/>
              </a:rPr>
              <a:t>Запустить у себя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000" y="5004000"/>
            <a:ext cx="540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nlo"/>
              </a:rPr>
              <a:t>pip install -r requirements.txt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nlo"/>
              </a:rPr>
              <a:t>uvicorn app.main:app --port 8000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nlo"/>
              </a:rPr>
              <a:t>открыть localhost:8000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2000" y="468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8A3D"/>
                </a:solidFill>
                <a:latin typeface="Intro"/>
              </a:rPr>
              <a:t>Код, данные и тесты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000" y="5004000"/>
            <a:ext cx="55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Evolventa"/>
              </a:rPr>
              <a:t>github.com/alkornilovich/cases/tree/main/sk-challenge-puzzle-bi-bot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Evolventa"/>
              </a:rPr>
              <a:t>python -m tests.eval_queries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Evolventa"/>
              </a:rPr>
              <a:t>python -m tests.test_security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00" y="6498000"/>
            <a:ext cx="9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FFFFFF"/>
                </a:solidFill>
                <a:latin typeface="Evolventa"/>
              </a:rPr>
              <a:t>Источники  [2] код решения на GitHub; [3] документация Ollama и Groq о бесплатном доступе к моделям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2000" y="6498000"/>
            <a:ext cx="88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Intro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