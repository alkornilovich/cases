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Точность</c:v>
                </c:pt>
              </c:strCache>
            </c:strRef>
          </c:tx>
          <c:dPt>
            <c:idx val="0"/>
            <c:spPr>
              <a:solidFill>
                <a:srgbClr val="E5383B"/>
              </a:solidFill>
            </c:spPr>
          </c:dPt>
          <c:dPt>
            <c:idx val="1"/>
            <c:spPr>
              <a:solidFill>
                <a:srgbClr val="FF8A3D"/>
              </a:solidFill>
            </c:spPr>
          </c:dPt>
          <c:dPt>
            <c:idx val="2"/>
            <c:spPr>
              <a:solidFill>
                <a:srgbClr val="FF8A3D"/>
              </a:solidFill>
            </c:spPr>
          </c:dPt>
          <c:dPt>
            <c:idx val="3"/>
            <c:spPr>
              <a:solidFill>
                <a:srgbClr val="3D5AFE"/>
              </a:solidFill>
            </c:spPr>
          </c:dPt>
          <c:dPt>
            <c:idx val="4"/>
            <c:spPr>
              <a:solidFill>
                <a:srgbClr val="12A150"/>
              </a:solidFill>
            </c:spPr>
          </c:dPt>
          <c:dPt>
            <c:idx val="5"/>
            <c:spPr>
              <a:solidFill>
                <a:srgbClr val="12A150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t>0%</a:t>
                    </a:r>
                  </a:p>
                </c:rich>
              </c:tx>
              <c:txPr>
                <a:bodyPr/>
                <a:lstStyle/>
                <a:p>
                  <a:pPr>
                    <a:defRPr sz="1200">
                      <a:solidFill>
                        <a:srgbClr val="E5383B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t>58%</a:t>
                    </a:r>
                  </a:p>
                </c:rich>
              </c:tx>
              <c:txPr>
                <a:bodyPr/>
                <a:lstStyle/>
                <a:p>
                  <a:pPr>
                    <a:defRPr sz="1200">
                      <a:solidFill>
                        <a:srgbClr val="FF8A3D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t>67%</a:t>
                    </a:r>
                  </a:p>
                </c:rich>
              </c:tx>
              <c:txPr>
                <a:bodyPr/>
                <a:lstStyle/>
                <a:p>
                  <a:pPr>
                    <a:defRPr sz="1200">
                      <a:solidFill>
                        <a:srgbClr val="FF8A3D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t>80%</a:t>
                    </a:r>
                  </a:p>
                </c:rich>
              </c:tx>
              <c:txPr>
                <a:bodyPr/>
                <a:lstStyle/>
                <a:p>
                  <a:pPr>
                    <a:defRPr sz="1200">
                      <a:solidFill>
                        <a:srgbClr val="3D5AFE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t>100%</a:t>
                    </a:r>
                  </a:p>
                </c:rich>
              </c:tx>
              <c:txPr>
                <a:bodyPr/>
                <a:lstStyle/>
                <a:p>
                  <a:pPr>
                    <a:defRPr sz="1200">
                      <a:solidFill>
                        <a:srgbClr val="12A150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t>100%</a:t>
                    </a:r>
                  </a:p>
                </c:rich>
              </c:tx>
              <c:txPr>
                <a:bodyPr/>
                <a:lstStyle/>
                <a:p>
                  <a:pPr>
                    <a:defRPr sz="1200">
                      <a:solidFill>
                        <a:srgbClr val="12A150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Резюме и таблица (2 фразы)</c:v>
                </c:pt>
                <c:pt idx="1">
                  <c:v>Построение дашборда (12 фраз)</c:v>
                </c:pt>
                <c:pt idx="2">
                  <c:v>Сохранение и история (6 фраз)</c:v>
                </c:pt>
                <c:pt idx="3">
                  <c:v>Вычисления (5 фраз)</c:v>
                </c:pt>
                <c:pt idx="4">
                  <c:v>Правка графиков (3 фразы)</c:v>
                </c:pt>
                <c:pt idx="5">
                  <c:v>Фильтры и переключатели (7 фраз)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0.004</c:v>
                </c:pt>
                <c:pt idx="1">
                  <c:v>0.58</c:v>
                </c:pt>
                <c:pt idx="2">
                  <c:v>0.67</c:v>
                </c:pt>
                <c:pt idx="3">
                  <c:v>0.8</c:v>
                </c:pt>
                <c:pt idx="4">
                  <c:v>1.0</c:v>
                </c:pt>
                <c:pt idx="5">
                  <c:v>1.0</c:v>
                </c:pt>
              </c:numCache>
            </c:numRef>
          </c:val>
        </c:ser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C9CFE3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25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50">
          <a:solidFill>
            <a:srgbClr val="141B34"/>
          </a:solidFill>
          <a:latin typeface="Evolventa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Тайминг 20 секунд. Решение кейса Puzzle RPA: чат-бот, который по вопросу на русском строит интерактивный дашборд прямо в чате. Главная идея: LLM не пишет код, поэтому решение безопасно по устройству. Код и данные лежат на GitHub.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Тайминг 50 секунд. Сейчас нестандартный вопрос руководителя уходит аналитику или упирается в отсутствие отчета в BI. Бот дает ответ за секунды и позволяет продолжить анализ фразами. Важно для крупной компании, что все цифры считает код, а модель только выбирает команду. QR-коды ведут на код и на живой дашборд.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Тайминг 1 минута. Решение устроено в три слоя. Первый понимает вопрос, это правила и бесплатная LLM, и он может ошибаться. Второй слой, каталог, это контракт с данными: в нем описаны разрезы и метрики, все остальное отбрасывается. Это граница доверия. Третий слой собирает SQL и считает цифры обычным кодом. Поэтому бот безопасен, не выдумывает числа и переносится на Oracle клиента через каталог.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Тайминг 50 секунд. Фраза проходит семь шагов: чат, диалог, разбор, каталог, база, вычисления и дашборд, каждый шаг отдельный модуль. Ответ приходит за 0,46 секунды: разбор занимает 2 миллисекунды, выгрузка 0,2 секунды. Дашборд хранится как состояние, поэтому сохранение, отмена и копия получаются почти бесплатно.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Тайминг 50 секунд. В кейсе отдельно сказано, что генерируемый код не должен удалять, менять, ходить в сеть и зависать. У меня каждое требование закрыто механизмом и тестом. Все 11 проверок проходят, их можно запустить одной командой.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Тайминг 50 секунд. Так выглядит ответ. Сверху KPI, план 1,25 млрд, факт 1,13, выполнение 90,4%. Ниже фильтры с поиском и переключатели. Четыре графика и таблица из одной выгрузки, сверху строка с главным выводом. Цифры в ней считает код, поэтому они всегда совпадают с графиками.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Тайминг 50 секунд. Сценарий из кейса. Добавляю колонку с процентом выполнения, бот выделяет ее в таблице. Фильтр по региону сужает список точек. Сохраняю два дашборда и открываю список. Открытый дашборд восстанавливается в том же виде.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Тайминг 1 минута. Все 38 запросов из кейса бот понимает. На 35 новых фразах первый прогон дал 25 верных. Хуже всего первый запрос на дашборд, 58%: люди начинают разговор самыми разными словами. Поэтому бесплатная LLM подключается именно там, где правила не узнали фразу. Ошибки трех типов: незнакомое слово, перепутанный смысл и ложное совпадение имени. Все исправлены, а бот всегда показывает, как понял запрос.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Тайминг 40 секунд. Для внедрения у клиента не нужно переписывать бота. Описываем Oracle в каталоге, подключаем к корпоративному чату, ставим LLM в контур клиента и выдаем роли базы. Запуск двумя командами, тесты одной.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7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0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image" Target="../media/image12.png"/><Relationship Id="rId8" Type="http://schemas.openxmlformats.org/officeDocument/2006/relationships/image" Target="../media/image11.png"/><Relationship Id="rId9" Type="http://schemas.openxmlformats.org/officeDocument/2006/relationships/image" Target="../media/image17.png"/><Relationship Id="rId10" Type="http://schemas.openxmlformats.org/officeDocument/2006/relationships/image" Target="../media/image18.png"/><Relationship Id="rId11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9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0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503999"/>
            <a:ext cx="432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>
                <a:solidFill>
                  <a:srgbClr val="141B34"/>
                </a:solidFill>
                <a:latin typeface="Peace Sans"/>
              </a:rPr>
              <a:t>Puzzle</a:t>
            </a:r>
            <a:r>
              <a:rPr sz="2200" b="0">
                <a:solidFill>
                  <a:srgbClr val="FF8A3D"/>
                </a:solidFill>
                <a:latin typeface="Peace Sans"/>
              </a:rPr>
              <a:t> RPA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76000" y="1044000"/>
            <a:ext cx="2882160" cy="270000"/>
          </a:xfrm>
          <a:prstGeom prst="roundRect">
            <a:avLst>
              <a:gd name="adj" fmla="val 50000"/>
            </a:avLst>
          </a:prstGeom>
          <a:solidFill>
            <a:srgbClr val="3D5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000" rIns="36000" tIns="0" bIns="0"/>
          <a:lstStyle/>
          <a:p>
            <a:pPr algn="ctr"/>
            <a:r>
              <a:rPr sz="1100">
                <a:solidFill>
                  <a:srgbClr val="FFFFFF"/>
                </a:solidFill>
                <a:latin typeface="Intro"/>
              </a:rPr>
              <a:t>Кейс Puzzle RPA, SK Challenge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6000" y="1620000"/>
            <a:ext cx="5580000" cy="21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4200" b="0">
                <a:solidFill>
                  <a:srgbClr val="141B34"/>
                </a:solidFill>
                <a:latin typeface="Peace Sans"/>
              </a:rPr>
              <a:t>BI чат-бот с дашбордами по вопросу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3816000"/>
            <a:ext cx="5040000" cy="86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141B34"/>
                </a:solidFill>
                <a:latin typeface="Intro"/>
              </a:rPr>
              <a:t>Менеджер пишет вопрос на русском и получает живой дашборд прямо в переписке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184000"/>
            <a:ext cx="432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41B34"/>
                </a:solidFill>
                <a:latin typeface="Intro"/>
              </a:rPr>
              <a:t>Автор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5472000"/>
            <a:ext cx="432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41B34"/>
                </a:solidFill>
                <a:latin typeface="Evolventa"/>
              </a:rPr>
              <a:t>Александр Корнилович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5868000"/>
            <a:ext cx="540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3D5AFE"/>
                </a:solidFill>
                <a:latin typeface="Evolventa"/>
              </a:rPr>
              <a:t>github.com/alkornilovich/Cases</a:t>
            </a:r>
          </a:p>
        </p:txBody>
      </p:sp>
      <p:pic>
        <p:nvPicPr>
          <p:cNvPr id="9" name="Picture 8" descr="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32000" y="983520"/>
            <a:ext cx="6361200" cy="508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0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0000" y="151200"/>
            <a:ext cx="7236540" cy="381600"/>
          </a:xfrm>
          <a:prstGeom prst="roundRect">
            <a:avLst>
              <a:gd name="adj" fmla="val 50000"/>
            </a:avLst>
          </a:prstGeom>
          <a:solidFill>
            <a:srgbClr val="FFFFFF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13999" y="190800"/>
            <a:ext cx="1022940" cy="302400"/>
          </a:xfrm>
          <a:prstGeom prst="roundRect">
            <a:avLst>
              <a:gd name="adj" fmla="val 50000"/>
            </a:avLst>
          </a:prstGeom>
          <a:solidFill>
            <a:srgbClr val="3D5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3999" y="190800"/>
            <a:ext cx="102294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FFFFFF"/>
                </a:solidFill>
                <a:latin typeface="Intro"/>
              </a:rPr>
              <a:t>01  </a:t>
            </a:r>
            <a:r>
              <a:rPr sz="1050" b="0">
                <a:solidFill>
                  <a:srgbClr val="FFFFFF"/>
                </a:solidFill>
                <a:latin typeface="Intro"/>
              </a:rPr>
              <a:t>Задача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80139" y="190800"/>
            <a:ext cx="110043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3D5AFE"/>
                </a:solidFill>
                <a:latin typeface="Intro"/>
              </a:rPr>
              <a:t>02  </a:t>
            </a:r>
            <a:r>
              <a:rPr sz="1050" b="0">
                <a:solidFill>
                  <a:srgbClr val="141B34"/>
                </a:solidFill>
                <a:latin typeface="Intro"/>
              </a:rPr>
              <a:t>Решение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23770" y="190800"/>
            <a:ext cx="148788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3D5AFE"/>
                </a:solidFill>
                <a:latin typeface="Intro"/>
              </a:rPr>
              <a:t>03  </a:t>
            </a:r>
            <a:r>
              <a:rPr sz="1050" b="0">
                <a:solidFill>
                  <a:srgbClr val="141B34"/>
                </a:solidFill>
                <a:latin typeface="Intro"/>
              </a:rPr>
              <a:t>Безопасность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54850" y="190800"/>
            <a:ext cx="86796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3D5AFE"/>
                </a:solidFill>
                <a:latin typeface="Intro"/>
              </a:rPr>
              <a:t>04  </a:t>
            </a:r>
            <a:r>
              <a:rPr sz="1050" b="0">
                <a:solidFill>
                  <a:srgbClr val="141B34"/>
                </a:solidFill>
                <a:latin typeface="Intro"/>
              </a:rPr>
              <a:t>Демо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66010" y="190800"/>
            <a:ext cx="117792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3D5AFE"/>
                </a:solidFill>
                <a:latin typeface="Intro"/>
              </a:rPr>
              <a:t>05  </a:t>
            </a:r>
            <a:r>
              <a:rPr sz="1050" b="0">
                <a:solidFill>
                  <a:srgbClr val="141B34"/>
                </a:solidFill>
                <a:latin typeface="Intro"/>
              </a:rPr>
              <a:t>Точность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87130" y="190800"/>
            <a:ext cx="125541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3D5AFE"/>
                </a:solidFill>
                <a:latin typeface="Intro"/>
              </a:rPr>
              <a:t>06  </a:t>
            </a:r>
            <a:r>
              <a:rPr sz="1050" b="0">
                <a:solidFill>
                  <a:srgbClr val="141B34"/>
                </a:solidFill>
                <a:latin typeface="Intro"/>
              </a:rPr>
              <a:t>Внедрение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80000" y="198000"/>
            <a:ext cx="2592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500" b="0">
                <a:solidFill>
                  <a:srgbClr val="141B34"/>
                </a:solidFill>
                <a:latin typeface="Peace Sans"/>
              </a:rPr>
              <a:t>Puzzle</a:t>
            </a:r>
            <a:r>
              <a:rPr sz="1500" b="0">
                <a:solidFill>
                  <a:srgbClr val="FF8A3D"/>
                </a:solidFill>
                <a:latin typeface="Peace Sans"/>
              </a:rPr>
              <a:t> RPA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2000" y="619200"/>
            <a:ext cx="10800000" cy="46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>
                <a:solidFill>
                  <a:srgbClr val="141B34"/>
                </a:solidFill>
                <a:latin typeface="Peace Sans"/>
              </a:rPr>
              <a:t>Задача и ценность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2000" y="1072800"/>
            <a:ext cx="11304000" cy="46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41B34"/>
                </a:solidFill>
                <a:latin typeface="Intro"/>
              </a:rPr>
              <a:t>Руководитель получает ответ на вопрос о продажах за секунды, без заявки аналитику и без поиска отчета в BI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0000" y="1638000"/>
            <a:ext cx="5742000" cy="4734000"/>
          </a:xfrm>
          <a:prstGeom prst="roundRect">
            <a:avLst>
              <a:gd name="adj" fmla="val 380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8000" y="1782000"/>
            <a:ext cx="540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3D5AFE"/>
                </a:solidFill>
                <a:latin typeface="Intro"/>
              </a:rPr>
              <a:t>Что мешает сейчас</a:t>
            </a:r>
          </a:p>
        </p:txBody>
      </p:sp>
      <p:pic>
        <p:nvPicPr>
          <p:cNvPr id="15" name="Picture 14" descr="i_clock_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000" y="2232000"/>
            <a:ext cx="342000" cy="342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72000" y="2214000"/>
            <a:ext cx="4896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41B34"/>
                </a:solidFill>
                <a:latin typeface="Intro"/>
              </a:rPr>
              <a:t>Ответ ждут от аналитика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2000" y="2502000"/>
            <a:ext cx="4896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141B34"/>
                </a:solidFill>
                <a:latin typeface="Evolventa"/>
              </a:rPr>
              <a:t>Нестандартный вопрос уходит в очередь, и решение принимают без цифр</a:t>
            </a:r>
          </a:p>
        </p:txBody>
      </p:sp>
      <p:pic>
        <p:nvPicPr>
          <p:cNvPr id="18" name="Picture 17" descr="i_file-question_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000" y="3564000"/>
            <a:ext cx="342000" cy="3420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972000" y="3546000"/>
            <a:ext cx="4896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41B34"/>
                </a:solidFill>
                <a:latin typeface="Intro"/>
              </a:rPr>
              <a:t>Нужного отчета нет в BI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2000" y="3834000"/>
            <a:ext cx="4896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141B34"/>
                </a:solidFill>
                <a:latin typeface="Evolventa"/>
              </a:rPr>
              <a:t>Готовые отчеты покрывают стандартные метрики, а разрез «отстающие точки Урала» в них не заложен</a:t>
            </a:r>
          </a:p>
        </p:txBody>
      </p:sp>
      <p:pic>
        <p:nvPicPr>
          <p:cNvPr id="21" name="Picture 20" descr="i_triangle-alert_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8000" y="4896000"/>
            <a:ext cx="342000" cy="3420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72000" y="4878000"/>
            <a:ext cx="4896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41B34"/>
                </a:solidFill>
                <a:latin typeface="Intro"/>
              </a:rPr>
              <a:t>Код от LLM рискует данными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2000" y="5166000"/>
            <a:ext cx="4896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141B34"/>
                </a:solidFill>
                <a:latin typeface="Evolventa"/>
              </a:rPr>
              <a:t>Модель, которая сама пишет SQL, может ошибиться в цифре или в запросе к рабочей базе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3999" y="1638000"/>
            <a:ext cx="5742000" cy="4734000"/>
          </a:xfrm>
          <a:prstGeom prst="roundRect">
            <a:avLst>
              <a:gd name="adj" fmla="val 380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72000" y="1782000"/>
            <a:ext cx="540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3D5AFE"/>
                </a:solidFill>
                <a:latin typeface="Intro"/>
              </a:rPr>
              <a:t>Что дает бот</a:t>
            </a:r>
          </a:p>
        </p:txBody>
      </p:sp>
      <p:pic>
        <p:nvPicPr>
          <p:cNvPr id="26" name="Picture 25" descr="i_zap_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72000" y="2232000"/>
            <a:ext cx="342000" cy="3420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876000" y="2214000"/>
            <a:ext cx="4896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41B34"/>
                </a:solidFill>
                <a:latin typeface="Intro"/>
              </a:rPr>
              <a:t>Ответ за секунды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76000" y="2502000"/>
            <a:ext cx="4896000" cy="57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141B34"/>
                </a:solidFill>
                <a:latin typeface="Evolventa"/>
              </a:rPr>
              <a:t>Вопрос словами превращается в KPI, фильтры и 4 графика, выгрузка данных занимает меньше секунды</a:t>
            </a:r>
          </a:p>
        </p:txBody>
      </p:sp>
      <p:pic>
        <p:nvPicPr>
          <p:cNvPr id="29" name="Picture 28" descr="i_refresh-cw_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72000" y="3114000"/>
            <a:ext cx="342000" cy="3420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876000" y="3096000"/>
            <a:ext cx="4896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41B34"/>
                </a:solidFill>
                <a:latin typeface="Intro"/>
              </a:rPr>
              <a:t>Анализ продолжается диалогом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76000" y="3384000"/>
            <a:ext cx="4896000" cy="57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141B34"/>
                </a:solidFill>
                <a:latin typeface="Evolventa"/>
              </a:rPr>
              <a:t>Новая колонка, другой разрез или фильтр одной фразой, без разработчика и нового отчета</a:t>
            </a:r>
          </a:p>
        </p:txBody>
      </p:sp>
      <p:pic>
        <p:nvPicPr>
          <p:cNvPr id="32" name="Picture 31" descr="i_shield-check_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72000" y="3996000"/>
            <a:ext cx="342000" cy="34200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6876000" y="3978000"/>
            <a:ext cx="4896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41B34"/>
                </a:solidFill>
                <a:latin typeface="Intro"/>
              </a:rPr>
              <a:t>Цифрам можно доверять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76000" y="4266000"/>
            <a:ext cx="4896000" cy="57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141B34"/>
                </a:solidFill>
                <a:latin typeface="Evolventa"/>
              </a:rPr>
              <a:t>Считает код, модель только выбирает команду, поэтому бот не выдумывает числа и не меняет базу</a:t>
            </a:r>
          </a:p>
        </p:txBody>
      </p:sp>
      <p:pic>
        <p:nvPicPr>
          <p:cNvPr id="35" name="Picture 34" descr="qr_github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72000" y="4896000"/>
            <a:ext cx="1296000" cy="129600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7775999" y="4896000"/>
            <a:ext cx="1224000" cy="129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41B34"/>
                </a:solidFill>
                <a:latin typeface="Intro"/>
              </a:rPr>
              <a:t>Код на GitHub</a:t>
            </a:r>
          </a:p>
        </p:txBody>
      </p:sp>
      <p:pic>
        <p:nvPicPr>
          <p:cNvPr id="37" name="Picture 36" descr="qr_demo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107999" y="4896000"/>
            <a:ext cx="1296000" cy="12960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10511999" y="4896000"/>
            <a:ext cx="1224000" cy="129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41B34"/>
                </a:solidFill>
                <a:latin typeface="Intro"/>
              </a:rPr>
              <a:t>Живой дашборд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2000" y="6498000"/>
            <a:ext cx="990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141B34"/>
                </a:solidFill>
                <a:latin typeface="Evolventa"/>
              </a:rPr>
              <a:t>Источники  [1] кейс Puzzle RPA «Чат-бот с интерактивной визуализацией данных», SK Challenge 2026; [2] замер времени выгрузки на данных кейса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872000" y="6498000"/>
            <a:ext cx="88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141B34"/>
                </a:solidFill>
                <a:latin typeface="Intro"/>
              </a:rPr>
              <a:t>02 / 09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0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0000" y="151200"/>
            <a:ext cx="7236540" cy="381600"/>
          </a:xfrm>
          <a:prstGeom prst="roundRect">
            <a:avLst>
              <a:gd name="adj" fmla="val 50000"/>
            </a:avLst>
          </a:prstGeom>
          <a:solidFill>
            <a:srgbClr val="FFFFFF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3999" y="190800"/>
            <a:ext cx="102294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3D5AFE"/>
                </a:solidFill>
                <a:latin typeface="Intro"/>
              </a:rPr>
              <a:t>01  </a:t>
            </a:r>
            <a:r>
              <a:rPr sz="1050" b="0">
                <a:solidFill>
                  <a:srgbClr val="141B34"/>
                </a:solidFill>
                <a:latin typeface="Intro"/>
              </a:rPr>
              <a:t>Задача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480139" y="190800"/>
            <a:ext cx="1100430" cy="302400"/>
          </a:xfrm>
          <a:prstGeom prst="roundRect">
            <a:avLst>
              <a:gd name="adj" fmla="val 50000"/>
            </a:avLst>
          </a:prstGeom>
          <a:solidFill>
            <a:srgbClr val="3D5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80139" y="190800"/>
            <a:ext cx="110043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FFFFFF"/>
                </a:solidFill>
                <a:latin typeface="Intro"/>
              </a:rPr>
              <a:t>02  </a:t>
            </a:r>
            <a:r>
              <a:rPr sz="1050" b="0">
                <a:solidFill>
                  <a:srgbClr val="FFFFFF"/>
                </a:solidFill>
                <a:latin typeface="Intro"/>
              </a:rPr>
              <a:t>Решение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23770" y="190800"/>
            <a:ext cx="148788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3D5AFE"/>
                </a:solidFill>
                <a:latin typeface="Intro"/>
              </a:rPr>
              <a:t>03  </a:t>
            </a:r>
            <a:r>
              <a:rPr sz="1050" b="0">
                <a:solidFill>
                  <a:srgbClr val="141B34"/>
                </a:solidFill>
                <a:latin typeface="Intro"/>
              </a:rPr>
              <a:t>Безопасность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54850" y="190800"/>
            <a:ext cx="86796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3D5AFE"/>
                </a:solidFill>
                <a:latin typeface="Intro"/>
              </a:rPr>
              <a:t>04  </a:t>
            </a:r>
            <a:r>
              <a:rPr sz="1050" b="0">
                <a:solidFill>
                  <a:srgbClr val="141B34"/>
                </a:solidFill>
                <a:latin typeface="Intro"/>
              </a:rPr>
              <a:t>Демо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66010" y="190800"/>
            <a:ext cx="117792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3D5AFE"/>
                </a:solidFill>
                <a:latin typeface="Intro"/>
              </a:rPr>
              <a:t>05  </a:t>
            </a:r>
            <a:r>
              <a:rPr sz="1050" b="0">
                <a:solidFill>
                  <a:srgbClr val="141B34"/>
                </a:solidFill>
                <a:latin typeface="Intro"/>
              </a:rPr>
              <a:t>Точность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87130" y="190800"/>
            <a:ext cx="125541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3D5AFE"/>
                </a:solidFill>
                <a:latin typeface="Intro"/>
              </a:rPr>
              <a:t>06  </a:t>
            </a:r>
            <a:r>
              <a:rPr sz="1050" b="0">
                <a:solidFill>
                  <a:srgbClr val="141B34"/>
                </a:solidFill>
                <a:latin typeface="Intro"/>
              </a:rPr>
              <a:t>Внедрение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80000" y="198000"/>
            <a:ext cx="2592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500" b="0">
                <a:solidFill>
                  <a:srgbClr val="141B34"/>
                </a:solidFill>
                <a:latin typeface="Peace Sans"/>
              </a:rPr>
              <a:t>Puzzle</a:t>
            </a:r>
            <a:r>
              <a:rPr sz="1500" b="0">
                <a:solidFill>
                  <a:srgbClr val="FF8A3D"/>
                </a:solidFill>
                <a:latin typeface="Peace Sans"/>
              </a:rPr>
              <a:t> RPA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2000" y="619200"/>
            <a:ext cx="10800000" cy="46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>
                <a:solidFill>
                  <a:srgbClr val="141B34"/>
                </a:solidFill>
                <a:latin typeface="Peace Sans"/>
              </a:rPr>
              <a:t>Три слоя решения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2000" y="1072800"/>
            <a:ext cx="11304000" cy="46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41B34"/>
                </a:solidFill>
                <a:latin typeface="Intro"/>
              </a:rPr>
              <a:t>Модель понимает вопрос, каталог задает границу, код считает цифры. Дальше границы модель не проходит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0000" y="1638000"/>
            <a:ext cx="3690000" cy="3311999"/>
          </a:xfrm>
          <a:prstGeom prst="roundRect">
            <a:avLst>
              <a:gd name="adj" fmla="val 543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000" y="1800000"/>
            <a:ext cx="540000" cy="342000"/>
          </a:xfrm>
          <a:prstGeom prst="roundRect">
            <a:avLst>
              <a:gd name="adj" fmla="val 50000"/>
            </a:avLst>
          </a:prstGeom>
          <a:solidFill>
            <a:srgbClr val="3D5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000" rIns="36000" tIns="0" bIns="0"/>
          <a:lstStyle/>
          <a:p>
            <a:pPr algn="ctr"/>
            <a:r>
              <a:rPr sz="1300">
                <a:solidFill>
                  <a:srgbClr val="FFFFFF"/>
                </a:solidFill>
                <a:latin typeface="Peace Sans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8000" y="1782000"/>
            <a:ext cx="2736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141B34"/>
                </a:solidFill>
                <a:latin typeface="Peace Sans"/>
              </a:rPr>
              <a:t>Понимание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8000" y="2250000"/>
            <a:ext cx="3311999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3D5AFE"/>
                </a:solidFill>
                <a:latin typeface="Intro"/>
              </a:rPr>
              <a:t>правила и бесплатная LLM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68000" y="2556000"/>
            <a:ext cx="3294000" cy="1296000"/>
          </a:xfrm>
          <a:prstGeom prst="roundRect">
            <a:avLst>
              <a:gd name="adj" fmla="val 9722"/>
            </a:avLst>
          </a:prstGeom>
          <a:solidFill>
            <a:srgbClr val="0F15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2000" y="2664000"/>
            <a:ext cx="3024000" cy="11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FFFFFF"/>
                </a:solidFill>
                <a:latin typeface="Menlo"/>
              </a:rPr>
              <a:t>«План-факт по регионам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FFFFFF"/>
                </a:solidFill>
                <a:latin typeface="Menlo"/>
              </a:rPr>
              <a:t>за последний год»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8000" y="4014000"/>
            <a:ext cx="3311999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FF8A3D"/>
                </a:solidFill>
                <a:latin typeface="Intro"/>
              </a:rPr>
              <a:t>Может ошибиться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8000" y="4284000"/>
            <a:ext cx="3311999" cy="503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41B34"/>
                </a:solidFill>
                <a:latin typeface="Evolventa"/>
              </a:rPr>
              <a:t>поэтому ее ответ дальше проверяется</a:t>
            </a:r>
          </a:p>
        </p:txBody>
      </p:sp>
      <p:pic>
        <p:nvPicPr>
          <p:cNvPr id="21" name="Picture 20" descr="i_arrow-right_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8000" y="3024000"/>
            <a:ext cx="270000" cy="270000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4248000" y="1638000"/>
            <a:ext cx="3690000" cy="3311999"/>
          </a:xfrm>
          <a:prstGeom prst="roundRect">
            <a:avLst>
              <a:gd name="adj" fmla="val 543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446000" y="1800000"/>
            <a:ext cx="540000" cy="342000"/>
          </a:xfrm>
          <a:prstGeom prst="roundRect">
            <a:avLst>
              <a:gd name="adj" fmla="val 50000"/>
            </a:avLst>
          </a:prstGeom>
          <a:solidFill>
            <a:srgbClr val="3D5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000" rIns="36000" tIns="0" bIns="0"/>
          <a:lstStyle/>
          <a:p>
            <a:pPr algn="ctr"/>
            <a:r>
              <a:rPr sz="1300">
                <a:solidFill>
                  <a:srgbClr val="FFFFFF"/>
                </a:solidFill>
                <a:latin typeface="Peace Sans"/>
              </a:rPr>
              <a:t>02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76000" y="1782000"/>
            <a:ext cx="2736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141B34"/>
                </a:solidFill>
                <a:latin typeface="Peace Sans"/>
              </a:rPr>
              <a:t>Каталог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46000" y="2250000"/>
            <a:ext cx="3311999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3D5AFE"/>
                </a:solidFill>
                <a:latin typeface="Intro"/>
              </a:rPr>
              <a:t>контракт с данными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446000" y="2556000"/>
            <a:ext cx="3294000" cy="1296000"/>
          </a:xfrm>
          <a:prstGeom prst="roundRect">
            <a:avLst>
              <a:gd name="adj" fmla="val 9722"/>
            </a:avLst>
          </a:prstGeom>
          <a:solidFill>
            <a:srgbClr val="0F15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90000" y="2664000"/>
            <a:ext cx="3024000" cy="11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FFFFFF"/>
                </a:solidFill>
                <a:latin typeface="Menlo"/>
              </a:rPr>
              <a:t>дашборд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FFFFFF"/>
                </a:solidFill>
                <a:latin typeface="Menlo"/>
              </a:rPr>
              <a:t>разрез = регион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FFFFFF"/>
                </a:solidFill>
                <a:latin typeface="Menlo"/>
              </a:rPr>
              <a:t>метрики = план, факт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FFFFFF"/>
                </a:solidFill>
                <a:latin typeface="Menlo"/>
              </a:rPr>
              <a:t>период = окт 2025 … сен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46000" y="4014000"/>
            <a:ext cx="3311999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2A150"/>
                </a:solidFill>
                <a:latin typeface="Intro"/>
              </a:rPr>
              <a:t>Отсекает ошибки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46000" y="4284000"/>
            <a:ext cx="3311999" cy="503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41B34"/>
                </a:solidFill>
                <a:latin typeface="Evolventa"/>
              </a:rPr>
              <a:t>все, чего нет в каталоге, отбрасывается</a:t>
            </a:r>
          </a:p>
        </p:txBody>
      </p:sp>
      <p:pic>
        <p:nvPicPr>
          <p:cNvPr id="30" name="Picture 29" descr="i_arrow-right_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6000" y="3024000"/>
            <a:ext cx="270000" cy="270000"/>
          </a:xfrm>
          <a:prstGeom prst="rect">
            <a:avLst/>
          </a:prstGeom>
        </p:spPr>
      </p:pic>
      <p:sp>
        <p:nvSpPr>
          <p:cNvPr id="31" name="Rounded Rectangle 30"/>
          <p:cNvSpPr/>
          <p:nvPr/>
        </p:nvSpPr>
        <p:spPr>
          <a:xfrm>
            <a:off x="8226000" y="1638000"/>
            <a:ext cx="3690000" cy="3311999"/>
          </a:xfrm>
          <a:prstGeom prst="roundRect">
            <a:avLst>
              <a:gd name="adj" fmla="val 543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424000" y="1800000"/>
            <a:ext cx="540000" cy="342000"/>
          </a:xfrm>
          <a:prstGeom prst="roundRect">
            <a:avLst>
              <a:gd name="adj" fmla="val 50000"/>
            </a:avLst>
          </a:prstGeom>
          <a:solidFill>
            <a:srgbClr val="3D5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000" rIns="36000" tIns="0" bIns="0"/>
          <a:lstStyle/>
          <a:p>
            <a:pPr algn="ctr"/>
            <a:r>
              <a:rPr sz="1300">
                <a:solidFill>
                  <a:srgbClr val="FFFFFF"/>
                </a:solidFill>
                <a:latin typeface="Peace Sans"/>
              </a:rPr>
              <a:t>03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54000" y="1782000"/>
            <a:ext cx="2736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141B34"/>
                </a:solidFill>
                <a:latin typeface="Peace Sans"/>
              </a:rPr>
              <a:t>Исполнение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24000" y="2250000"/>
            <a:ext cx="3311999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3D5AFE"/>
                </a:solidFill>
                <a:latin typeface="Intro"/>
              </a:rPr>
              <a:t>код без генерации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424000" y="2556000"/>
            <a:ext cx="3294000" cy="1296000"/>
          </a:xfrm>
          <a:prstGeom prst="roundRect">
            <a:avLst>
              <a:gd name="adj" fmla="val 9722"/>
            </a:avLst>
          </a:prstGeom>
          <a:solidFill>
            <a:srgbClr val="0F15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568000" y="2664000"/>
            <a:ext cx="3024000" cy="11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FFFFFF"/>
                </a:solidFill>
                <a:latin typeface="Menlo"/>
              </a:rPr>
              <a:t>SELECT region, sum(plan), sum(fact)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FFFFFF"/>
                </a:solidFill>
                <a:latin typeface="Menlo"/>
              </a:rPr>
              <a:t>FROM sales …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FFFFFF"/>
                </a:solidFill>
                <a:latin typeface="Menlo"/>
              </a:rPr>
              <a:t>WHERE sale_date &gt;= ?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FFFFFF"/>
                </a:solidFill>
                <a:latin typeface="Menlo"/>
              </a:rPr>
              <a:t>→ 33 787 строк → дашборд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24000" y="4014000"/>
            <a:ext cx="3311999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2A150"/>
                </a:solidFill>
                <a:latin typeface="Intro"/>
              </a:rPr>
              <a:t>Считает точно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24000" y="4284000"/>
            <a:ext cx="3311999" cy="503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41B34"/>
                </a:solidFill>
                <a:latin typeface="Evolventa"/>
              </a:rPr>
              <a:t>тот же код на любых данных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4111200" y="1638000"/>
            <a:ext cx="0" cy="3312000"/>
          </a:xfrm>
          <a:prstGeom prst="line">
            <a:avLst/>
          </a:prstGeom>
          <a:ln w="25400">
            <a:solidFill>
              <a:srgbClr val="FF8A3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2951999" y="5112000"/>
            <a:ext cx="234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8A3D"/>
                </a:solidFill>
                <a:latin typeface="Intro"/>
              </a:rPr>
              <a:t>граница доверия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70000" y="5364000"/>
            <a:ext cx="11646000" cy="1007999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i_shield-check_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000" y="5562000"/>
            <a:ext cx="342000" cy="34200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954000" y="5526000"/>
            <a:ext cx="3240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41B34"/>
                </a:solidFill>
                <a:latin typeface="Intro"/>
              </a:rPr>
              <a:t>Безопасность по устройству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4000" y="5796000"/>
            <a:ext cx="3240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41B34"/>
                </a:solidFill>
                <a:latin typeface="Evolventa"/>
              </a:rPr>
              <a:t>изолировать нечего, генерируемого кода нет</a:t>
            </a:r>
          </a:p>
        </p:txBody>
      </p:sp>
      <p:pic>
        <p:nvPicPr>
          <p:cNvPr id="45" name="Picture 44" descr="i_sigma_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38000" y="5562000"/>
            <a:ext cx="342000" cy="342000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4824000" y="5526000"/>
            <a:ext cx="3240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41B34"/>
                </a:solidFill>
                <a:latin typeface="Intro"/>
              </a:rPr>
              <a:t>Цифры без выдумки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824000" y="5796000"/>
            <a:ext cx="3240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41B34"/>
                </a:solidFill>
                <a:latin typeface="Evolventa"/>
              </a:rPr>
              <a:t>все числа считает код, модель их не пишет</a:t>
            </a:r>
          </a:p>
        </p:txBody>
      </p:sp>
      <p:pic>
        <p:nvPicPr>
          <p:cNvPr id="48" name="Picture 47" descr="i_database_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08000" y="5562000"/>
            <a:ext cx="342000" cy="342000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8694000" y="5526000"/>
            <a:ext cx="3240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41B34"/>
                </a:solidFill>
                <a:latin typeface="Intro"/>
              </a:rPr>
              <a:t>Новая база за дни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94000" y="5796000"/>
            <a:ext cx="3240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41B34"/>
                </a:solidFill>
                <a:latin typeface="Evolventa"/>
              </a:rPr>
              <a:t>для Oracle клиента описывается каталог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32000" y="6498000"/>
            <a:ext cx="990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141B34"/>
                </a:solidFill>
                <a:latin typeface="Evolventa"/>
              </a:rPr>
              <a:t>Источники  [2] код решения, app/nlu.py, app/catalog.py, app/db.py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872000" y="6498000"/>
            <a:ext cx="88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141B34"/>
                </a:solidFill>
                <a:latin typeface="Intro"/>
              </a:rPr>
              <a:t>03 / 09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0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0000" y="151200"/>
            <a:ext cx="7236540" cy="381600"/>
          </a:xfrm>
          <a:prstGeom prst="roundRect">
            <a:avLst>
              <a:gd name="adj" fmla="val 50000"/>
            </a:avLst>
          </a:prstGeom>
          <a:solidFill>
            <a:srgbClr val="FFFFFF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3999" y="190800"/>
            <a:ext cx="102294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3D5AFE"/>
                </a:solidFill>
                <a:latin typeface="Intro"/>
              </a:rPr>
              <a:t>01  </a:t>
            </a:r>
            <a:r>
              <a:rPr sz="1050" b="0">
                <a:solidFill>
                  <a:srgbClr val="141B34"/>
                </a:solidFill>
                <a:latin typeface="Intro"/>
              </a:rPr>
              <a:t>Задача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480139" y="190800"/>
            <a:ext cx="1100430" cy="302400"/>
          </a:xfrm>
          <a:prstGeom prst="roundRect">
            <a:avLst>
              <a:gd name="adj" fmla="val 50000"/>
            </a:avLst>
          </a:prstGeom>
          <a:solidFill>
            <a:srgbClr val="3D5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80139" y="190800"/>
            <a:ext cx="110043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FFFFFF"/>
                </a:solidFill>
                <a:latin typeface="Intro"/>
              </a:rPr>
              <a:t>02  </a:t>
            </a:r>
            <a:r>
              <a:rPr sz="1050" b="0">
                <a:solidFill>
                  <a:srgbClr val="FFFFFF"/>
                </a:solidFill>
                <a:latin typeface="Intro"/>
              </a:rPr>
              <a:t>Решение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23770" y="190800"/>
            <a:ext cx="148788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3D5AFE"/>
                </a:solidFill>
                <a:latin typeface="Intro"/>
              </a:rPr>
              <a:t>03  </a:t>
            </a:r>
            <a:r>
              <a:rPr sz="1050" b="0">
                <a:solidFill>
                  <a:srgbClr val="141B34"/>
                </a:solidFill>
                <a:latin typeface="Intro"/>
              </a:rPr>
              <a:t>Безопасность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54850" y="190800"/>
            <a:ext cx="86796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3D5AFE"/>
                </a:solidFill>
                <a:latin typeface="Intro"/>
              </a:rPr>
              <a:t>04  </a:t>
            </a:r>
            <a:r>
              <a:rPr sz="1050" b="0">
                <a:solidFill>
                  <a:srgbClr val="141B34"/>
                </a:solidFill>
                <a:latin typeface="Intro"/>
              </a:rPr>
              <a:t>Демо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66010" y="190800"/>
            <a:ext cx="117792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3D5AFE"/>
                </a:solidFill>
                <a:latin typeface="Intro"/>
              </a:rPr>
              <a:t>05  </a:t>
            </a:r>
            <a:r>
              <a:rPr sz="1050" b="0">
                <a:solidFill>
                  <a:srgbClr val="141B34"/>
                </a:solidFill>
                <a:latin typeface="Intro"/>
              </a:rPr>
              <a:t>Точность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87130" y="190800"/>
            <a:ext cx="125541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3D5AFE"/>
                </a:solidFill>
                <a:latin typeface="Intro"/>
              </a:rPr>
              <a:t>06  </a:t>
            </a:r>
            <a:r>
              <a:rPr sz="1050" b="0">
                <a:solidFill>
                  <a:srgbClr val="141B34"/>
                </a:solidFill>
                <a:latin typeface="Intro"/>
              </a:rPr>
              <a:t>Внедрение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80000" y="198000"/>
            <a:ext cx="2592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500" b="0">
                <a:solidFill>
                  <a:srgbClr val="141B34"/>
                </a:solidFill>
                <a:latin typeface="Peace Sans"/>
              </a:rPr>
              <a:t>Puzzle</a:t>
            </a:r>
            <a:r>
              <a:rPr sz="1500" b="0">
                <a:solidFill>
                  <a:srgbClr val="FF8A3D"/>
                </a:solidFill>
                <a:latin typeface="Peace Sans"/>
              </a:rPr>
              <a:t> RPA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2000" y="619200"/>
            <a:ext cx="10800000" cy="46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>
                <a:solidFill>
                  <a:srgbClr val="141B34"/>
                </a:solidFill>
                <a:latin typeface="Peace Sans"/>
              </a:rPr>
              <a:t>Как устроен бот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2000" y="1072800"/>
            <a:ext cx="11304000" cy="46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41B34"/>
                </a:solidFill>
                <a:latin typeface="Intro"/>
              </a:rPr>
              <a:t>Семь шагов от фразы до дашборда, каждый отдельный модуль на Python, ответ приходит меньше чем за полсекунды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0000" y="1638000"/>
            <a:ext cx="11646000" cy="216000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92000" y="1800000"/>
            <a:ext cx="576000" cy="576000"/>
          </a:xfrm>
          <a:prstGeom prst="roundRect">
            <a:avLst>
              <a:gd name="adj" fmla="val 50000"/>
            </a:avLst>
          </a:prstGeom>
          <a:solidFill>
            <a:srgbClr val="E8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i_message-square_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7999" y="1925999"/>
            <a:ext cx="324000" cy="324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13999" y="2466000"/>
            <a:ext cx="1332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>
                <a:solidFill>
                  <a:srgbClr val="141B34"/>
                </a:solidFill>
                <a:latin typeface="Intro"/>
              </a:rPr>
              <a:t>Чат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3999" y="2700000"/>
            <a:ext cx="133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3D5AFE"/>
                </a:solidFill>
                <a:latin typeface="Menlo"/>
              </a:rPr>
              <a:t>index.html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3999" y="2934000"/>
            <a:ext cx="1332000" cy="503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000" b="0">
                <a:solidFill>
                  <a:srgbClr val="141B34"/>
                </a:solidFill>
                <a:latin typeface="Evolventa"/>
              </a:rPr>
              <a:t>вопрос и ответы в браузере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0000" y="3438000"/>
            <a:ext cx="1080000" cy="216000"/>
          </a:xfrm>
          <a:prstGeom prst="roundRect">
            <a:avLst>
              <a:gd name="adj" fmla="val 50000"/>
            </a:avLst>
          </a:prstGeom>
          <a:solidFill>
            <a:srgbClr val="F0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000" rIns="36000" tIns="0" bIns="0"/>
          <a:lstStyle/>
          <a:p>
            <a:pPr algn="ctr"/>
            <a:r>
              <a:rPr sz="900">
                <a:solidFill>
                  <a:srgbClr val="141B34"/>
                </a:solidFill>
                <a:latin typeface="Intro"/>
              </a:rPr>
              <a:t>FastAPI</a:t>
            </a:r>
          </a:p>
        </p:txBody>
      </p:sp>
      <p:pic>
        <p:nvPicPr>
          <p:cNvPr id="20" name="Picture 19" descr="i_arrow-right_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7199" y="1962000"/>
            <a:ext cx="251999" cy="251999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2412000" y="1800000"/>
            <a:ext cx="576000" cy="576000"/>
          </a:xfrm>
          <a:prstGeom prst="roundRect">
            <a:avLst>
              <a:gd name="adj" fmla="val 50000"/>
            </a:avLst>
          </a:prstGeom>
          <a:solidFill>
            <a:srgbClr val="E8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i_bot_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38000" y="1925999"/>
            <a:ext cx="324000" cy="3240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2034000" y="2466000"/>
            <a:ext cx="1332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>
                <a:solidFill>
                  <a:srgbClr val="141B34"/>
                </a:solidFill>
                <a:latin typeface="Intro"/>
              </a:rPr>
              <a:t>Диалог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34000" y="2700000"/>
            <a:ext cx="133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3D5AFE"/>
                </a:solidFill>
                <a:latin typeface="Menlo"/>
              </a:rPr>
              <a:t>bot.py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34000" y="2934000"/>
            <a:ext cx="1332000" cy="503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000" b="0">
                <a:solidFill>
                  <a:srgbClr val="141B34"/>
                </a:solidFill>
                <a:latin typeface="Evolventa"/>
              </a:rPr>
              <a:t>держит состояние, задает уточнения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160000" y="3438000"/>
            <a:ext cx="1080000" cy="216000"/>
          </a:xfrm>
          <a:prstGeom prst="roundRect">
            <a:avLst>
              <a:gd name="adj" fmla="val 50000"/>
            </a:avLst>
          </a:prstGeom>
          <a:solidFill>
            <a:srgbClr val="F0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000" rIns="36000" tIns="0" bIns="0"/>
          <a:lstStyle/>
          <a:p>
            <a:pPr algn="ctr"/>
            <a:r>
              <a:rPr sz="900">
                <a:solidFill>
                  <a:srgbClr val="141B34"/>
                </a:solidFill>
                <a:latin typeface="Intro"/>
              </a:rPr>
              <a:t>Python</a:t>
            </a:r>
          </a:p>
        </p:txBody>
      </p:sp>
      <p:pic>
        <p:nvPicPr>
          <p:cNvPr id="27" name="Picture 26" descr="i_arrow-right_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7200" y="1962000"/>
            <a:ext cx="251999" cy="251999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4032000" y="1800000"/>
            <a:ext cx="576000" cy="576000"/>
          </a:xfrm>
          <a:prstGeom prst="roundRect">
            <a:avLst>
              <a:gd name="adj" fmla="val 50000"/>
            </a:avLst>
          </a:prstGeom>
          <a:solidFill>
            <a:srgbClr val="E8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i_braces_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58000" y="1925999"/>
            <a:ext cx="324000" cy="3240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3654000" y="2466000"/>
            <a:ext cx="1332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>
                <a:solidFill>
                  <a:srgbClr val="141B34"/>
                </a:solidFill>
                <a:latin typeface="Intro"/>
              </a:rPr>
              <a:t>Разбор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4000" y="2700000"/>
            <a:ext cx="133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3D5AFE"/>
                </a:solidFill>
                <a:latin typeface="Menlo"/>
              </a:rPr>
              <a:t>nlu.py, llm.py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4000" y="2934000"/>
            <a:ext cx="1332000" cy="503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000" b="0">
                <a:solidFill>
                  <a:srgbClr val="141B34"/>
                </a:solidFill>
                <a:latin typeface="Evolventa"/>
              </a:rPr>
              <a:t>фраза в команду, правила и LLM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780000" y="3438000"/>
            <a:ext cx="1080000" cy="216000"/>
          </a:xfrm>
          <a:prstGeom prst="roundRect">
            <a:avLst>
              <a:gd name="adj" fmla="val 50000"/>
            </a:avLst>
          </a:prstGeom>
          <a:solidFill>
            <a:srgbClr val="F0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000" rIns="36000" tIns="0" bIns="0"/>
          <a:lstStyle/>
          <a:p>
            <a:pPr algn="ctr"/>
            <a:r>
              <a:rPr sz="900">
                <a:solidFill>
                  <a:srgbClr val="141B34"/>
                </a:solidFill>
                <a:latin typeface="Intro"/>
              </a:rPr>
              <a:t>Ollama, Groq</a:t>
            </a:r>
          </a:p>
        </p:txBody>
      </p:sp>
      <p:pic>
        <p:nvPicPr>
          <p:cNvPr id="34" name="Picture 33" descr="i_arrow-right_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7200" y="1962000"/>
            <a:ext cx="251999" cy="251999"/>
          </a:xfrm>
          <a:prstGeom prst="rect">
            <a:avLst/>
          </a:prstGeom>
        </p:spPr>
      </p:pic>
      <p:sp>
        <p:nvSpPr>
          <p:cNvPr id="35" name="Rounded Rectangle 34"/>
          <p:cNvSpPr/>
          <p:nvPr/>
        </p:nvSpPr>
        <p:spPr>
          <a:xfrm>
            <a:off x="5652000" y="1800000"/>
            <a:ext cx="576000" cy="576000"/>
          </a:xfrm>
          <a:prstGeom prst="roundRect">
            <a:avLst>
              <a:gd name="adj" fmla="val 50000"/>
            </a:avLst>
          </a:prstGeom>
          <a:solidFill>
            <a:srgbClr val="E8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i_book-open_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78000" y="1925999"/>
            <a:ext cx="324000" cy="32400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5274000" y="2466000"/>
            <a:ext cx="1332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>
                <a:solidFill>
                  <a:srgbClr val="141B34"/>
                </a:solidFill>
                <a:latin typeface="Intro"/>
              </a:rPr>
              <a:t>Каталог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74000" y="2700000"/>
            <a:ext cx="133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3D5AFE"/>
                </a:solidFill>
                <a:latin typeface="Menlo"/>
              </a:rPr>
              <a:t>catalog.py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74000" y="2934000"/>
            <a:ext cx="1332000" cy="503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000" b="0">
                <a:solidFill>
                  <a:srgbClr val="141B34"/>
                </a:solidFill>
                <a:latin typeface="Evolventa"/>
              </a:rPr>
              <a:t>разрезы и метрики, граница доверия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400000" y="3438000"/>
            <a:ext cx="1080000" cy="216000"/>
          </a:xfrm>
          <a:prstGeom prst="roundRect">
            <a:avLst>
              <a:gd name="adj" fmla="val 50000"/>
            </a:avLst>
          </a:prstGeom>
          <a:solidFill>
            <a:srgbClr val="F0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000" rIns="36000" tIns="0" bIns="0"/>
          <a:lstStyle/>
          <a:p>
            <a:pPr algn="ctr"/>
            <a:r>
              <a:rPr sz="900">
                <a:solidFill>
                  <a:srgbClr val="141B34"/>
                </a:solidFill>
                <a:latin typeface="Intro"/>
              </a:rPr>
              <a:t>словари</a:t>
            </a:r>
          </a:p>
        </p:txBody>
      </p:sp>
      <p:pic>
        <p:nvPicPr>
          <p:cNvPr id="41" name="Picture 40" descr="i_arrow-right_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7200" y="1962000"/>
            <a:ext cx="251999" cy="251999"/>
          </a:xfrm>
          <a:prstGeom prst="rect">
            <a:avLst/>
          </a:prstGeom>
        </p:spPr>
      </p:pic>
      <p:sp>
        <p:nvSpPr>
          <p:cNvPr id="42" name="Rounded Rectangle 41"/>
          <p:cNvSpPr/>
          <p:nvPr/>
        </p:nvSpPr>
        <p:spPr>
          <a:xfrm>
            <a:off x="7272000" y="1800000"/>
            <a:ext cx="576000" cy="576000"/>
          </a:xfrm>
          <a:prstGeom prst="roundRect">
            <a:avLst>
              <a:gd name="adj" fmla="val 50000"/>
            </a:avLst>
          </a:prstGeom>
          <a:solidFill>
            <a:srgbClr val="E8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i_database_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97999" y="1925999"/>
            <a:ext cx="324000" cy="324000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6893999" y="2466000"/>
            <a:ext cx="1332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>
                <a:solidFill>
                  <a:srgbClr val="141B34"/>
                </a:solidFill>
                <a:latin typeface="Intro"/>
              </a:rPr>
              <a:t>База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93999" y="2700000"/>
            <a:ext cx="133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3D5AFE"/>
                </a:solidFill>
                <a:latin typeface="Menlo"/>
              </a:rPr>
              <a:t>db.py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93999" y="2934000"/>
            <a:ext cx="1332000" cy="503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000" b="0">
                <a:solidFill>
                  <a:srgbClr val="141B34"/>
                </a:solidFill>
                <a:latin typeface="Evolventa"/>
              </a:rPr>
              <a:t>SQL только на чтение по команде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020000" y="3438000"/>
            <a:ext cx="1080000" cy="216000"/>
          </a:xfrm>
          <a:prstGeom prst="roundRect">
            <a:avLst>
              <a:gd name="adj" fmla="val 50000"/>
            </a:avLst>
          </a:prstGeom>
          <a:solidFill>
            <a:srgbClr val="F0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000" rIns="36000" tIns="0" bIns="0"/>
          <a:lstStyle/>
          <a:p>
            <a:pPr algn="ctr"/>
            <a:r>
              <a:rPr sz="900">
                <a:solidFill>
                  <a:srgbClr val="141B34"/>
                </a:solidFill>
                <a:latin typeface="Intro"/>
              </a:rPr>
              <a:t>DuckDB, Postgres</a:t>
            </a:r>
          </a:p>
        </p:txBody>
      </p:sp>
      <p:pic>
        <p:nvPicPr>
          <p:cNvPr id="48" name="Picture 47" descr="i_arrow-right_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97200" y="1962000"/>
            <a:ext cx="251999" cy="251999"/>
          </a:xfrm>
          <a:prstGeom prst="rect">
            <a:avLst/>
          </a:prstGeom>
        </p:spPr>
      </p:pic>
      <p:sp>
        <p:nvSpPr>
          <p:cNvPr id="49" name="Rounded Rectangle 48"/>
          <p:cNvSpPr/>
          <p:nvPr/>
        </p:nvSpPr>
        <p:spPr>
          <a:xfrm>
            <a:off x="8892000" y="1800000"/>
            <a:ext cx="576000" cy="576000"/>
          </a:xfrm>
          <a:prstGeom prst="roundRect">
            <a:avLst>
              <a:gd name="adj" fmla="val 50000"/>
            </a:avLst>
          </a:prstGeom>
          <a:solidFill>
            <a:srgbClr val="E8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0" name="Picture 49" descr="i_sigma_b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17999" y="1925999"/>
            <a:ext cx="324000" cy="324000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8514000" y="2466000"/>
            <a:ext cx="1332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>
                <a:solidFill>
                  <a:srgbClr val="141B34"/>
                </a:solidFill>
                <a:latin typeface="Intro"/>
              </a:rPr>
              <a:t>Вычисления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514000" y="2700000"/>
            <a:ext cx="133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3D5AFE"/>
                </a:solidFill>
                <a:latin typeface="Menlo"/>
              </a:rPr>
              <a:t>compute.py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14000" y="2934000"/>
            <a:ext cx="1332000" cy="503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000" b="0">
                <a:solidFill>
                  <a:srgbClr val="141B34"/>
                </a:solidFill>
                <a:latin typeface="Evolventa"/>
              </a:rPr>
              <a:t>колонки, доли, динамика без кода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640000" y="3438000"/>
            <a:ext cx="1080000" cy="216000"/>
          </a:xfrm>
          <a:prstGeom prst="roundRect">
            <a:avLst>
              <a:gd name="adj" fmla="val 50000"/>
            </a:avLst>
          </a:prstGeom>
          <a:solidFill>
            <a:srgbClr val="F0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000" rIns="36000" tIns="0" bIns="0"/>
          <a:lstStyle/>
          <a:p>
            <a:pPr algn="ctr"/>
            <a:r>
              <a:rPr sz="900">
                <a:solidFill>
                  <a:srgbClr val="141B34"/>
                </a:solidFill>
                <a:latin typeface="Intro"/>
              </a:rPr>
              <a:t>pandas</a:t>
            </a:r>
          </a:p>
        </p:txBody>
      </p:sp>
      <p:pic>
        <p:nvPicPr>
          <p:cNvPr id="55" name="Picture 54" descr="i_arrow-right_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17200" y="1962000"/>
            <a:ext cx="251999" cy="251999"/>
          </a:xfrm>
          <a:prstGeom prst="rect">
            <a:avLst/>
          </a:prstGeom>
        </p:spPr>
      </p:pic>
      <p:sp>
        <p:nvSpPr>
          <p:cNvPr id="56" name="Rounded Rectangle 55"/>
          <p:cNvSpPr/>
          <p:nvPr/>
        </p:nvSpPr>
        <p:spPr>
          <a:xfrm>
            <a:off x="10512000" y="1800000"/>
            <a:ext cx="576000" cy="576000"/>
          </a:xfrm>
          <a:prstGeom prst="roundRect">
            <a:avLst>
              <a:gd name="adj" fmla="val 50000"/>
            </a:avLst>
          </a:prstGeom>
          <a:solidFill>
            <a:srgbClr val="E8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7" name="Picture 56" descr="i_layout-dashboard_b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37999" y="1925999"/>
            <a:ext cx="324000" cy="324000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10134000" y="2466000"/>
            <a:ext cx="1332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>
                <a:solidFill>
                  <a:srgbClr val="141B34"/>
                </a:solidFill>
                <a:latin typeface="Intro"/>
              </a:rPr>
              <a:t>Дашборд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134000" y="2700000"/>
            <a:ext cx="133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3D5AFE"/>
                </a:solidFill>
                <a:latin typeface="Menlo"/>
              </a:rPr>
              <a:t>dashboard.js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134000" y="2934000"/>
            <a:ext cx="1332000" cy="503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000" b="0">
                <a:solidFill>
                  <a:srgbClr val="141B34"/>
                </a:solidFill>
                <a:latin typeface="Evolventa"/>
              </a:rPr>
              <a:t>KPI, фильтры, 4 графика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0260000" y="3438000"/>
            <a:ext cx="1080000" cy="216000"/>
          </a:xfrm>
          <a:prstGeom prst="roundRect">
            <a:avLst>
              <a:gd name="adj" fmla="val 50000"/>
            </a:avLst>
          </a:prstGeom>
          <a:solidFill>
            <a:srgbClr val="F0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000" rIns="36000" tIns="0" bIns="0"/>
          <a:lstStyle/>
          <a:p>
            <a:pPr algn="ctr"/>
            <a:r>
              <a:rPr sz="900">
                <a:solidFill>
                  <a:srgbClr val="141B34"/>
                </a:solidFill>
                <a:latin typeface="Intro"/>
              </a:rPr>
              <a:t>Plotly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270000" y="3924000"/>
            <a:ext cx="3960000" cy="2448000"/>
          </a:xfrm>
          <a:prstGeom prst="roundRect">
            <a:avLst>
              <a:gd name="adj" fmla="val 735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68000" y="4050000"/>
            <a:ext cx="360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3D5AFE"/>
                </a:solidFill>
                <a:latin typeface="Intro"/>
              </a:rPr>
              <a:t>Скорость ответа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68000" y="4320000"/>
            <a:ext cx="3600000" cy="503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0">
                <a:solidFill>
                  <a:srgbClr val="141B34"/>
                </a:solidFill>
                <a:latin typeface="Peace Sans"/>
              </a:rPr>
              <a:t>0,46 с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68000" y="4842000"/>
            <a:ext cx="3600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41B34"/>
                </a:solidFill>
                <a:latin typeface="Evolventa"/>
              </a:rPr>
              <a:t>от вопроса до готового дашборда, мой замер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468000" y="5209200"/>
            <a:ext cx="54000" cy="151200"/>
          </a:xfrm>
          <a:prstGeom prst="roundRect">
            <a:avLst>
              <a:gd name="adj" fmla="val 50000"/>
            </a:avLst>
          </a:prstGeom>
          <a:solidFill>
            <a:srgbClr val="3D5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12000" y="5166000"/>
            <a:ext cx="827999" cy="2519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41B34"/>
                </a:solidFill>
                <a:latin typeface="Intro"/>
              </a:rPr>
              <a:t>2 мс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376000" y="5166000"/>
            <a:ext cx="1764000" cy="2519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41B34"/>
                </a:solidFill>
                <a:latin typeface="Evolventa"/>
              </a:rPr>
              <a:t>разбор фразы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468000" y="5569200"/>
            <a:ext cx="830769" cy="151200"/>
          </a:xfrm>
          <a:prstGeom prst="roundRect">
            <a:avLst>
              <a:gd name="adj" fmla="val 47619"/>
            </a:avLst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388769" y="5526000"/>
            <a:ext cx="827999" cy="2519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41B34"/>
                </a:solidFill>
                <a:latin typeface="Intro"/>
              </a:rPr>
              <a:t>200 мс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6000" y="5526000"/>
            <a:ext cx="1764000" cy="2519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41B34"/>
                </a:solidFill>
                <a:latin typeface="Evolventa"/>
              </a:rPr>
              <a:t>SQL и выгрузка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468000" y="5929200"/>
            <a:ext cx="1080000" cy="151200"/>
          </a:xfrm>
          <a:prstGeom prst="roundRect">
            <a:avLst>
              <a:gd name="adj" fmla="val 47619"/>
            </a:avLst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638000" y="5886000"/>
            <a:ext cx="827999" cy="2519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41B34"/>
                </a:solidFill>
                <a:latin typeface="Intro"/>
              </a:rPr>
              <a:t>260 мс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376000" y="5886000"/>
            <a:ext cx="1764000" cy="2519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41B34"/>
                </a:solidFill>
                <a:latin typeface="Evolventa"/>
              </a:rPr>
              <a:t>упаковка для браузера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4356000" y="3924000"/>
            <a:ext cx="3780000" cy="2448000"/>
          </a:xfrm>
          <a:prstGeom prst="roundRect">
            <a:avLst>
              <a:gd name="adj" fmla="val 735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554000" y="4050000"/>
            <a:ext cx="342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3D5AFE"/>
                </a:solidFill>
                <a:latin typeface="Intro"/>
              </a:rPr>
              <a:t>Дашборд хранится как состояние</a:t>
            </a:r>
          </a:p>
        </p:txBody>
      </p:sp>
      <p:pic>
        <p:nvPicPr>
          <p:cNvPr id="77" name="Picture 76" descr="i_check_b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54000" y="4410000"/>
            <a:ext cx="216000" cy="216000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4860000" y="4392000"/>
            <a:ext cx="3168000" cy="2519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41B34"/>
                </a:solidFill>
                <a:latin typeface="Evolventa"/>
              </a:rPr>
              <a:t>запрос и команда</a:t>
            </a:r>
          </a:p>
        </p:txBody>
      </p:sp>
      <p:pic>
        <p:nvPicPr>
          <p:cNvPr id="79" name="Picture 78" descr="i_check_b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54000" y="4690800"/>
            <a:ext cx="216000" cy="216000"/>
          </a:xfrm>
          <a:prstGeom prst="rect">
            <a:avLst/>
          </a:prstGeom>
        </p:spPr>
      </p:pic>
      <p:sp>
        <p:nvSpPr>
          <p:cNvPr id="80" name="TextBox 79"/>
          <p:cNvSpPr txBox="1"/>
          <p:nvPr/>
        </p:nvSpPr>
        <p:spPr>
          <a:xfrm>
            <a:off x="4860000" y="4672799"/>
            <a:ext cx="3168000" cy="2519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41B34"/>
                </a:solidFill>
                <a:latin typeface="Evolventa"/>
              </a:rPr>
              <a:t>единая таблица с вычислениями</a:t>
            </a:r>
          </a:p>
        </p:txBody>
      </p:sp>
      <p:pic>
        <p:nvPicPr>
          <p:cNvPr id="81" name="Picture 80" descr="i_check_b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54000" y="4971600"/>
            <a:ext cx="216000" cy="216000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4860000" y="4953599"/>
            <a:ext cx="3168000" cy="2519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41B34"/>
                </a:solidFill>
                <a:latin typeface="Evolventa"/>
              </a:rPr>
              <a:t>настройки 4 графиков</a:t>
            </a:r>
          </a:p>
        </p:txBody>
      </p:sp>
      <p:pic>
        <p:nvPicPr>
          <p:cNvPr id="83" name="Picture 82" descr="i_check_b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54000" y="5252399"/>
            <a:ext cx="216000" cy="216000"/>
          </a:xfrm>
          <a:prstGeom prst="rect">
            <a:avLst/>
          </a:prstGeom>
        </p:spPr>
      </p:pic>
      <p:sp>
        <p:nvSpPr>
          <p:cNvPr id="84" name="TextBox 83"/>
          <p:cNvSpPr txBox="1"/>
          <p:nvPr/>
        </p:nvSpPr>
        <p:spPr>
          <a:xfrm>
            <a:off x="4860000" y="5234399"/>
            <a:ext cx="3168000" cy="2519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41B34"/>
                </a:solidFill>
                <a:latin typeface="Evolventa"/>
              </a:rPr>
              <a:t>фильтры и переключатели</a:t>
            </a:r>
          </a:p>
        </p:txBody>
      </p:sp>
      <p:pic>
        <p:nvPicPr>
          <p:cNvPr id="85" name="Picture 84" descr="i_check_b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54000" y="5533199"/>
            <a:ext cx="216000" cy="216000"/>
          </a:xfrm>
          <a:prstGeom prst="rect">
            <a:avLst/>
          </a:prstGeom>
        </p:spPr>
      </p:pic>
      <p:sp>
        <p:nvSpPr>
          <p:cNvPr id="86" name="TextBox 85"/>
          <p:cNvSpPr txBox="1"/>
          <p:nvPr/>
        </p:nvSpPr>
        <p:spPr>
          <a:xfrm>
            <a:off x="4860000" y="5515199"/>
            <a:ext cx="3168000" cy="2519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41B34"/>
                </a:solidFill>
                <a:latin typeface="Evolventa"/>
              </a:rPr>
              <a:t>20 последних версий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554000" y="5832000"/>
            <a:ext cx="3456000" cy="46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41B34"/>
                </a:solidFill>
                <a:latin typeface="Intro"/>
              </a:rPr>
              <a:t>Отсюда бесплатно сохранение, отмена шага, копия и возврат в том же виде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8262000" y="3924000"/>
            <a:ext cx="3654000" cy="2448000"/>
          </a:xfrm>
          <a:prstGeom prst="roundRect">
            <a:avLst>
              <a:gd name="adj" fmla="val 735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460000" y="4050000"/>
            <a:ext cx="3311999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3D5AFE"/>
                </a:solidFill>
                <a:latin typeface="Intro"/>
              </a:rPr>
              <a:t>Решение в цифрах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460000" y="4356000"/>
            <a:ext cx="1296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>
                <a:solidFill>
                  <a:srgbClr val="3D5AFE"/>
                </a:solidFill>
                <a:latin typeface="Peace Sans"/>
              </a:rPr>
              <a:t>2 500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792000" y="4356000"/>
            <a:ext cx="2015999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41B34"/>
                </a:solidFill>
                <a:latin typeface="Evolventa"/>
              </a:rPr>
              <a:t>строк кода в 9 файлах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460000" y="4842000"/>
            <a:ext cx="1296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>
                <a:solidFill>
                  <a:srgbClr val="3D5AFE"/>
                </a:solidFill>
                <a:latin typeface="Peace Sans"/>
              </a:rPr>
              <a:t>73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9792000" y="4842000"/>
            <a:ext cx="2015999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41B34"/>
                </a:solidFill>
                <a:latin typeface="Evolventa"/>
              </a:rPr>
              <a:t>тестовых запроса на разбор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60000" y="5328000"/>
            <a:ext cx="1296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>
                <a:solidFill>
                  <a:srgbClr val="3D5AFE"/>
                </a:solidFill>
                <a:latin typeface="Peace Sans"/>
              </a:rPr>
              <a:t>11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92000" y="5328000"/>
            <a:ext cx="2015999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41B34"/>
                </a:solidFill>
                <a:latin typeface="Evolventa"/>
              </a:rPr>
              <a:t>проверок безопасности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460000" y="5813999"/>
            <a:ext cx="1296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>
                <a:solidFill>
                  <a:srgbClr val="3D5AFE"/>
                </a:solidFill>
                <a:latin typeface="Peace Sans"/>
              </a:rPr>
              <a:t>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792000" y="5813999"/>
            <a:ext cx="2015999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41B34"/>
                </a:solidFill>
                <a:latin typeface="Evolventa"/>
              </a:rPr>
              <a:t>команды для запуска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32000" y="6498000"/>
            <a:ext cx="990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141B34"/>
                </a:solidFill>
                <a:latin typeface="Evolventa"/>
              </a:rPr>
              <a:t>Источники  [2] код решения на GitHub; замер времени на данных кейса, медиана из 5 запусков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872000" y="6498000"/>
            <a:ext cx="88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141B34"/>
                </a:solidFill>
                <a:latin typeface="Intro"/>
              </a:rPr>
              <a:t>04 / 09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0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0000" y="151200"/>
            <a:ext cx="7236540" cy="381600"/>
          </a:xfrm>
          <a:prstGeom prst="roundRect">
            <a:avLst>
              <a:gd name="adj" fmla="val 50000"/>
            </a:avLst>
          </a:prstGeom>
          <a:solidFill>
            <a:srgbClr val="FFFFFF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3999" y="190800"/>
            <a:ext cx="102294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3D5AFE"/>
                </a:solidFill>
                <a:latin typeface="Intro"/>
              </a:rPr>
              <a:t>01  </a:t>
            </a:r>
            <a:r>
              <a:rPr sz="1050" b="0">
                <a:solidFill>
                  <a:srgbClr val="141B34"/>
                </a:solidFill>
                <a:latin typeface="Intro"/>
              </a:rPr>
              <a:t>Задача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80139" y="190800"/>
            <a:ext cx="110043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3D5AFE"/>
                </a:solidFill>
                <a:latin typeface="Intro"/>
              </a:rPr>
              <a:t>02  </a:t>
            </a:r>
            <a:r>
              <a:rPr sz="1050" b="0">
                <a:solidFill>
                  <a:srgbClr val="141B34"/>
                </a:solidFill>
                <a:latin typeface="Intro"/>
              </a:rPr>
              <a:t>Решение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623770" y="190800"/>
            <a:ext cx="1487880" cy="302400"/>
          </a:xfrm>
          <a:prstGeom prst="roundRect">
            <a:avLst>
              <a:gd name="adj" fmla="val 50000"/>
            </a:avLst>
          </a:prstGeom>
          <a:solidFill>
            <a:srgbClr val="3D5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623770" y="190800"/>
            <a:ext cx="148788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FFFFFF"/>
                </a:solidFill>
                <a:latin typeface="Intro"/>
              </a:rPr>
              <a:t>03  </a:t>
            </a:r>
            <a:r>
              <a:rPr sz="1050" b="0">
                <a:solidFill>
                  <a:srgbClr val="FFFFFF"/>
                </a:solidFill>
                <a:latin typeface="Intro"/>
              </a:rPr>
              <a:t>Безопасность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54850" y="190800"/>
            <a:ext cx="86796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3D5AFE"/>
                </a:solidFill>
                <a:latin typeface="Intro"/>
              </a:rPr>
              <a:t>04  </a:t>
            </a:r>
            <a:r>
              <a:rPr sz="1050" b="0">
                <a:solidFill>
                  <a:srgbClr val="141B34"/>
                </a:solidFill>
                <a:latin typeface="Intro"/>
              </a:rPr>
              <a:t>Демо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66010" y="190800"/>
            <a:ext cx="117792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3D5AFE"/>
                </a:solidFill>
                <a:latin typeface="Intro"/>
              </a:rPr>
              <a:t>05  </a:t>
            </a:r>
            <a:r>
              <a:rPr sz="1050" b="0">
                <a:solidFill>
                  <a:srgbClr val="141B34"/>
                </a:solidFill>
                <a:latin typeface="Intro"/>
              </a:rPr>
              <a:t>Точность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87130" y="190800"/>
            <a:ext cx="125541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3D5AFE"/>
                </a:solidFill>
                <a:latin typeface="Intro"/>
              </a:rPr>
              <a:t>06  </a:t>
            </a:r>
            <a:r>
              <a:rPr sz="1050" b="0">
                <a:solidFill>
                  <a:srgbClr val="141B34"/>
                </a:solidFill>
                <a:latin typeface="Intro"/>
              </a:rPr>
              <a:t>Внедрение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80000" y="198000"/>
            <a:ext cx="2592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500" b="0">
                <a:solidFill>
                  <a:srgbClr val="141B34"/>
                </a:solidFill>
                <a:latin typeface="Peace Sans"/>
              </a:rPr>
              <a:t>Puzzle</a:t>
            </a:r>
            <a:r>
              <a:rPr sz="1500" b="0">
                <a:solidFill>
                  <a:srgbClr val="FF8A3D"/>
                </a:solidFill>
                <a:latin typeface="Peace Sans"/>
              </a:rPr>
              <a:t> RPA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2000" y="619200"/>
            <a:ext cx="10800000" cy="46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>
                <a:solidFill>
                  <a:srgbClr val="141B34"/>
                </a:solidFill>
                <a:latin typeface="Peace Sans"/>
              </a:rPr>
              <a:t>Безопасность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2000" y="1072800"/>
            <a:ext cx="11304000" cy="46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41B34"/>
                </a:solidFill>
                <a:latin typeface="Intro"/>
              </a:rPr>
              <a:t>Каждое предупреждение из кейса закрыто механизмом и проверено тестом, 11 проверок из 11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0000" y="1638000"/>
            <a:ext cx="11646000" cy="4734000"/>
          </a:xfrm>
          <a:prstGeom prst="roundRect">
            <a:avLst>
              <a:gd name="adj" fmla="val 380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3999" y="1800000"/>
            <a:ext cx="3168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3D5AFE"/>
                </a:solidFill>
                <a:latin typeface="Intro"/>
              </a:rPr>
              <a:t>Требование кейса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16000" y="1800000"/>
            <a:ext cx="4896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3D5AFE"/>
                </a:solidFill>
                <a:latin typeface="Intro"/>
              </a:rPr>
              <a:t>Как закрыто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52000" y="1800000"/>
            <a:ext cx="2520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3D5AFE"/>
                </a:solidFill>
                <a:latin typeface="Intro"/>
              </a:rPr>
              <a:t>Тест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3999" y="2358000"/>
            <a:ext cx="3168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41B34"/>
                </a:solidFill>
                <a:latin typeface="Intro"/>
              </a:rPr>
              <a:t>Код не удаляет и не меняет данные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16000" y="2358000"/>
            <a:ext cx="4896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41B34"/>
                </a:solidFill>
                <a:latin typeface="Evolventa"/>
              </a:rPr>
              <a:t>выполняются только SELECT, роль базы только на чтение</a:t>
            </a:r>
          </a:p>
        </p:txBody>
      </p:sp>
      <p:pic>
        <p:nvPicPr>
          <p:cNvPr id="19" name="Picture 18" descr="i_check_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92000" y="2430000"/>
            <a:ext cx="270000" cy="2700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252000" y="2358000"/>
            <a:ext cx="2520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41B34"/>
                </a:solidFill>
                <a:latin typeface="Evolventa"/>
              </a:rPr>
              <a:t>DELETE и DROP отклонены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3999" y="2916000"/>
            <a:ext cx="3168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41B34"/>
                </a:solidFill>
                <a:latin typeface="Intro"/>
              </a:rPr>
              <a:t>Код не ходит в сеть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16000" y="2916000"/>
            <a:ext cx="4896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41B34"/>
                </a:solidFill>
                <a:latin typeface="Evolventa"/>
              </a:rPr>
              <a:t>после загрузки данных база отключает доступ к файлам и сети</a:t>
            </a:r>
          </a:p>
        </p:txBody>
      </p:sp>
      <p:pic>
        <p:nvPicPr>
          <p:cNvPr id="23" name="Picture 22" descr="i_check_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92000" y="2987999"/>
            <a:ext cx="270000" cy="2700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252000" y="2916000"/>
            <a:ext cx="2520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41B34"/>
                </a:solidFill>
                <a:latin typeface="Evolventa"/>
              </a:rPr>
              <a:t>чтение файла и URL отклонено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3999" y="3474000"/>
            <a:ext cx="3168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41B34"/>
                </a:solidFill>
                <a:latin typeface="Intro"/>
              </a:rPr>
              <a:t>Настройки нельзя ослабить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16000" y="3474000"/>
            <a:ext cx="4896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41B34"/>
                </a:solidFill>
                <a:latin typeface="Evolventa"/>
              </a:rPr>
              <a:t>конфигурация базы заблокирована</a:t>
            </a:r>
          </a:p>
        </p:txBody>
      </p:sp>
      <p:pic>
        <p:nvPicPr>
          <p:cNvPr id="27" name="Picture 26" descr="i_check_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92000" y="3546000"/>
            <a:ext cx="270000" cy="2700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252000" y="3474000"/>
            <a:ext cx="2520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41B34"/>
                </a:solidFill>
                <a:latin typeface="Evolventa"/>
              </a:rPr>
              <a:t>смена настройки отклонена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3999" y="4032000"/>
            <a:ext cx="3168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41B34"/>
                </a:solidFill>
                <a:latin typeface="Intro"/>
              </a:rPr>
              <a:t>Нет SQL-инъекций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16000" y="4032000"/>
            <a:ext cx="4896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41B34"/>
                </a:solidFill>
                <a:latin typeface="Evolventa"/>
              </a:rPr>
              <a:t>имена колонок из каталога, значения передаются параметрами</a:t>
            </a:r>
          </a:p>
        </p:txBody>
      </p:sp>
      <p:pic>
        <p:nvPicPr>
          <p:cNvPr id="31" name="Picture 30" descr="i_check_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92000" y="4104000"/>
            <a:ext cx="270000" cy="27000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9252000" y="4032000"/>
            <a:ext cx="2520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41B34"/>
                </a:solidFill>
                <a:latin typeface="Evolventa"/>
              </a:rPr>
              <a:t>DROP в тексте не попал в SQL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3999" y="4590000"/>
            <a:ext cx="3168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41B34"/>
                </a:solidFill>
                <a:latin typeface="Intro"/>
              </a:rPr>
              <a:t>Код не исполняется бесконечно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816000" y="4590000"/>
            <a:ext cx="4896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41B34"/>
                </a:solidFill>
                <a:latin typeface="Evolventa"/>
              </a:rPr>
              <a:t>таймаут 15 секунд и лимит 200 тыс. строк</a:t>
            </a:r>
          </a:p>
        </p:txBody>
      </p:sp>
      <p:pic>
        <p:nvPicPr>
          <p:cNvPr id="35" name="Picture 34" descr="i_check_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92000" y="4662000"/>
            <a:ext cx="270000" cy="27000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9252000" y="4590000"/>
            <a:ext cx="2520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41B34"/>
                </a:solidFill>
                <a:latin typeface="Evolventa"/>
              </a:rPr>
              <a:t>прерывание по таймеру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3999" y="5148000"/>
            <a:ext cx="3168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41B34"/>
                </a:solidFill>
                <a:latin typeface="Intro"/>
              </a:rPr>
              <a:t>Формулы без кода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816000" y="5148000"/>
            <a:ext cx="4896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41B34"/>
                </a:solidFill>
                <a:latin typeface="Evolventa"/>
              </a:rPr>
              <a:t>только + − × ÷, числа и колонки, деление на ноль дает пусто</a:t>
            </a:r>
          </a:p>
        </p:txBody>
      </p:sp>
      <p:pic>
        <p:nvPicPr>
          <p:cNvPr id="39" name="Picture 38" descr="i_check_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92000" y="5220000"/>
            <a:ext cx="270000" cy="27000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9252000" y="5148000"/>
            <a:ext cx="2520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41B34"/>
                </a:solidFill>
                <a:latin typeface="Evolventa"/>
              </a:rPr>
              <a:t>возведение в степень и код отклонены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3999" y="5706000"/>
            <a:ext cx="3168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41B34"/>
                </a:solidFill>
                <a:latin typeface="Intro"/>
              </a:rPr>
              <a:t>Пустые данные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16000" y="5706000"/>
            <a:ext cx="4896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41B34"/>
                </a:solidFill>
                <a:latin typeface="Evolventa"/>
              </a:rPr>
              <a:t>понятный ответ вместо ошибки, графики показывают «нет данных»</a:t>
            </a:r>
          </a:p>
        </p:txBody>
      </p:sp>
      <p:pic>
        <p:nvPicPr>
          <p:cNvPr id="43" name="Picture 42" descr="i_check_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92000" y="5778000"/>
            <a:ext cx="270000" cy="270000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9252000" y="5706000"/>
            <a:ext cx="2520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41B34"/>
                </a:solidFill>
                <a:latin typeface="Evolventa"/>
              </a:rPr>
              <a:t>запрос за 2010 год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2000" y="6498000"/>
            <a:ext cx="990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141B34"/>
                </a:solidFill>
                <a:latin typeface="Evolventa"/>
              </a:rPr>
              <a:t>Источники  [1] раздел кейса «Ограничения и подсказки»; [2] tests/test_security.py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872000" y="6498000"/>
            <a:ext cx="88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141B34"/>
                </a:solidFill>
                <a:latin typeface="Intro"/>
              </a:rPr>
              <a:t>05 / 09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0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0000" y="151200"/>
            <a:ext cx="7236540" cy="381600"/>
          </a:xfrm>
          <a:prstGeom prst="roundRect">
            <a:avLst>
              <a:gd name="adj" fmla="val 50000"/>
            </a:avLst>
          </a:prstGeom>
          <a:solidFill>
            <a:srgbClr val="FFFFFF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3999" y="190800"/>
            <a:ext cx="102294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3D5AFE"/>
                </a:solidFill>
                <a:latin typeface="Intro"/>
              </a:rPr>
              <a:t>01  </a:t>
            </a:r>
            <a:r>
              <a:rPr sz="1050" b="0">
                <a:solidFill>
                  <a:srgbClr val="141B34"/>
                </a:solidFill>
                <a:latin typeface="Intro"/>
              </a:rPr>
              <a:t>Задача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80139" y="190800"/>
            <a:ext cx="110043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3D5AFE"/>
                </a:solidFill>
                <a:latin typeface="Intro"/>
              </a:rPr>
              <a:t>02  </a:t>
            </a:r>
            <a:r>
              <a:rPr sz="1050" b="0">
                <a:solidFill>
                  <a:srgbClr val="141B34"/>
                </a:solidFill>
                <a:latin typeface="Intro"/>
              </a:rPr>
              <a:t>Решение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23770" y="190800"/>
            <a:ext cx="148788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3D5AFE"/>
                </a:solidFill>
                <a:latin typeface="Intro"/>
              </a:rPr>
              <a:t>03  </a:t>
            </a:r>
            <a:r>
              <a:rPr sz="1050" b="0">
                <a:solidFill>
                  <a:srgbClr val="141B34"/>
                </a:solidFill>
                <a:latin typeface="Intro"/>
              </a:rPr>
              <a:t>Безопасность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54850" y="190800"/>
            <a:ext cx="867960" cy="302400"/>
          </a:xfrm>
          <a:prstGeom prst="roundRect">
            <a:avLst>
              <a:gd name="adj" fmla="val 50000"/>
            </a:avLst>
          </a:prstGeom>
          <a:solidFill>
            <a:srgbClr val="3D5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54850" y="190800"/>
            <a:ext cx="86796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FFFFFF"/>
                </a:solidFill>
                <a:latin typeface="Intro"/>
              </a:rPr>
              <a:t>04  </a:t>
            </a:r>
            <a:r>
              <a:rPr sz="1050" b="0">
                <a:solidFill>
                  <a:srgbClr val="FFFFFF"/>
                </a:solidFill>
                <a:latin typeface="Intro"/>
              </a:rPr>
              <a:t>Демо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66010" y="190800"/>
            <a:ext cx="117792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3D5AFE"/>
                </a:solidFill>
                <a:latin typeface="Intro"/>
              </a:rPr>
              <a:t>05  </a:t>
            </a:r>
            <a:r>
              <a:rPr sz="1050" b="0">
                <a:solidFill>
                  <a:srgbClr val="141B34"/>
                </a:solidFill>
                <a:latin typeface="Intro"/>
              </a:rPr>
              <a:t>Точность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87130" y="190800"/>
            <a:ext cx="125541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3D5AFE"/>
                </a:solidFill>
                <a:latin typeface="Intro"/>
              </a:rPr>
              <a:t>06  </a:t>
            </a:r>
            <a:r>
              <a:rPr sz="1050" b="0">
                <a:solidFill>
                  <a:srgbClr val="141B34"/>
                </a:solidFill>
                <a:latin typeface="Intro"/>
              </a:rPr>
              <a:t>Внедрение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80000" y="198000"/>
            <a:ext cx="2592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500" b="0">
                <a:solidFill>
                  <a:srgbClr val="141B34"/>
                </a:solidFill>
                <a:latin typeface="Peace Sans"/>
              </a:rPr>
              <a:t>Puzzle</a:t>
            </a:r>
            <a:r>
              <a:rPr sz="1500" b="0">
                <a:solidFill>
                  <a:srgbClr val="FF8A3D"/>
                </a:solidFill>
                <a:latin typeface="Peace Sans"/>
              </a:rPr>
              <a:t> RPA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2000" y="619200"/>
            <a:ext cx="10800000" cy="46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>
                <a:solidFill>
                  <a:srgbClr val="141B34"/>
                </a:solidFill>
                <a:latin typeface="Peace Sans"/>
              </a:rPr>
              <a:t>Дашборд в чате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2000" y="1072800"/>
            <a:ext cx="11304000" cy="46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41B34"/>
                </a:solidFill>
                <a:latin typeface="Intro"/>
              </a:rPr>
              <a:t>Ответ на «план-факт по регионам и торговым точкам за последний год», все цифры пересчитываются при каждом фильтре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0000" y="1638000"/>
            <a:ext cx="7776000" cy="4734000"/>
          </a:xfrm>
          <a:prstGeom prst="roundRect">
            <a:avLst>
              <a:gd name="adj" fmla="val 380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s_dash_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361" y="1710000"/>
            <a:ext cx="7261276" cy="4589999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8190000" y="1638000"/>
            <a:ext cx="3726000" cy="4734000"/>
          </a:xfrm>
          <a:prstGeom prst="roundRect">
            <a:avLst>
              <a:gd name="adj" fmla="val 483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388000" y="1800000"/>
            <a:ext cx="306000" cy="306000"/>
          </a:xfrm>
          <a:prstGeom prst="roundRect">
            <a:avLst>
              <a:gd name="adj" fmla="val 50000"/>
            </a:avLst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000" rIns="3600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Peace Sans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02000" y="1792800"/>
            <a:ext cx="2988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41B34"/>
                </a:solidFill>
                <a:latin typeface="Intro"/>
              </a:rPr>
              <a:t>KPI с контекстом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02000" y="2088000"/>
            <a:ext cx="2988000" cy="79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41B34"/>
                </a:solidFill>
                <a:latin typeface="Evolventa"/>
              </a:rPr>
              <a:t>факт, выполнение и отклонение от плана, сравнение с прошлым годом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88000" y="2718000"/>
            <a:ext cx="306000" cy="306000"/>
          </a:xfrm>
          <a:prstGeom prst="roundRect">
            <a:avLst>
              <a:gd name="adj" fmla="val 50000"/>
            </a:avLst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000" rIns="3600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Peace Sans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02000" y="2710800"/>
            <a:ext cx="2988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41B34"/>
                </a:solidFill>
                <a:latin typeface="Intro"/>
              </a:rPr>
              <a:t>Фильтры и переключатели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02000" y="3006000"/>
            <a:ext cx="2988000" cy="79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41B34"/>
                </a:solidFill>
                <a:latin typeface="Evolventa"/>
              </a:rPr>
              <a:t>поиск по 300 точкам, мультивыбор, каскад регион → точка, месяц, квартал, год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88000" y="3636000"/>
            <a:ext cx="306000" cy="306000"/>
          </a:xfrm>
          <a:prstGeom prst="roundRect">
            <a:avLst>
              <a:gd name="adj" fmla="val 50000"/>
            </a:avLst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000" rIns="3600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Peace Sans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02000" y="3628800"/>
            <a:ext cx="2988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41B34"/>
                </a:solidFill>
                <a:latin typeface="Intro"/>
              </a:rPr>
              <a:t>Графики и таблица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02000" y="3924000"/>
            <a:ext cx="2988000" cy="79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41B34"/>
                </a:solidFill>
                <a:latin typeface="Evolventa"/>
              </a:rPr>
              <a:t>факт столбцами, план линией, отставание красным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388000" y="4553999"/>
            <a:ext cx="306000" cy="306000"/>
          </a:xfrm>
          <a:prstGeom prst="roundRect">
            <a:avLst>
              <a:gd name="adj" fmla="val 50000"/>
            </a:avLst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000" rIns="3600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Peace Sans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02000" y="4546800"/>
            <a:ext cx="2988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41B34"/>
                </a:solidFill>
                <a:latin typeface="Intro"/>
              </a:rPr>
              <a:t>Главное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02000" y="4842000"/>
            <a:ext cx="2988000" cy="79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41B34"/>
                </a:solidFill>
                <a:latin typeface="Evolventa"/>
              </a:rPr>
              <a:t>вывод одной строкой, цифры считает код, модель их не выдумывает</a:t>
            </a:r>
          </a:p>
        </p:txBody>
      </p:sp>
      <p:pic>
        <p:nvPicPr>
          <p:cNvPr id="28" name="Picture 27" descr="qr_dem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8000" y="5472000"/>
            <a:ext cx="827999" cy="827999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9324000" y="5472000"/>
            <a:ext cx="2448000" cy="8279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41B34"/>
                </a:solidFill>
                <a:latin typeface="Intro"/>
              </a:rPr>
              <a:t>Живой дашборд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2000" y="6498000"/>
            <a:ext cx="990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141B34"/>
                </a:solidFill>
                <a:latin typeface="Evolventa"/>
              </a:rPr>
              <a:t>Источники  [2] скриншот работающего бота на данных кейса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72000" y="6498000"/>
            <a:ext cx="88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141B34"/>
                </a:solidFill>
                <a:latin typeface="Intro"/>
              </a:rPr>
              <a:t>06 / 09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0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0000" y="151200"/>
            <a:ext cx="7236540" cy="381600"/>
          </a:xfrm>
          <a:prstGeom prst="roundRect">
            <a:avLst>
              <a:gd name="adj" fmla="val 50000"/>
            </a:avLst>
          </a:prstGeom>
          <a:solidFill>
            <a:srgbClr val="FFFFFF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3999" y="190800"/>
            <a:ext cx="102294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3D5AFE"/>
                </a:solidFill>
                <a:latin typeface="Intro"/>
              </a:rPr>
              <a:t>01  </a:t>
            </a:r>
            <a:r>
              <a:rPr sz="1050" b="0">
                <a:solidFill>
                  <a:srgbClr val="141B34"/>
                </a:solidFill>
                <a:latin typeface="Intro"/>
              </a:rPr>
              <a:t>Задача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80139" y="190800"/>
            <a:ext cx="110043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3D5AFE"/>
                </a:solidFill>
                <a:latin typeface="Intro"/>
              </a:rPr>
              <a:t>02  </a:t>
            </a:r>
            <a:r>
              <a:rPr sz="1050" b="0">
                <a:solidFill>
                  <a:srgbClr val="141B34"/>
                </a:solidFill>
                <a:latin typeface="Intro"/>
              </a:rPr>
              <a:t>Решение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23770" y="190800"/>
            <a:ext cx="148788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3D5AFE"/>
                </a:solidFill>
                <a:latin typeface="Intro"/>
              </a:rPr>
              <a:t>03  </a:t>
            </a:r>
            <a:r>
              <a:rPr sz="1050" b="0">
                <a:solidFill>
                  <a:srgbClr val="141B34"/>
                </a:solidFill>
                <a:latin typeface="Intro"/>
              </a:rPr>
              <a:t>Безопасность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54850" y="190800"/>
            <a:ext cx="867960" cy="302400"/>
          </a:xfrm>
          <a:prstGeom prst="roundRect">
            <a:avLst>
              <a:gd name="adj" fmla="val 50000"/>
            </a:avLst>
          </a:prstGeom>
          <a:solidFill>
            <a:srgbClr val="3D5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54850" y="190800"/>
            <a:ext cx="86796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FFFFFF"/>
                </a:solidFill>
                <a:latin typeface="Intro"/>
              </a:rPr>
              <a:t>04  </a:t>
            </a:r>
            <a:r>
              <a:rPr sz="1050" b="0">
                <a:solidFill>
                  <a:srgbClr val="FFFFFF"/>
                </a:solidFill>
                <a:latin typeface="Intro"/>
              </a:rPr>
              <a:t>Демо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66010" y="190800"/>
            <a:ext cx="117792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3D5AFE"/>
                </a:solidFill>
                <a:latin typeface="Intro"/>
              </a:rPr>
              <a:t>05  </a:t>
            </a:r>
            <a:r>
              <a:rPr sz="1050" b="0">
                <a:solidFill>
                  <a:srgbClr val="141B34"/>
                </a:solidFill>
                <a:latin typeface="Intro"/>
              </a:rPr>
              <a:t>Точность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87130" y="190800"/>
            <a:ext cx="125541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3D5AFE"/>
                </a:solidFill>
                <a:latin typeface="Intro"/>
              </a:rPr>
              <a:t>06  </a:t>
            </a:r>
            <a:r>
              <a:rPr sz="1050" b="0">
                <a:solidFill>
                  <a:srgbClr val="141B34"/>
                </a:solidFill>
                <a:latin typeface="Intro"/>
              </a:rPr>
              <a:t>Внедрение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80000" y="198000"/>
            <a:ext cx="2592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500" b="0">
                <a:solidFill>
                  <a:srgbClr val="141B34"/>
                </a:solidFill>
                <a:latin typeface="Peace Sans"/>
              </a:rPr>
              <a:t>Puzzle</a:t>
            </a:r>
            <a:r>
              <a:rPr sz="1500" b="0">
                <a:solidFill>
                  <a:srgbClr val="FF8A3D"/>
                </a:solidFill>
                <a:latin typeface="Peace Sans"/>
              </a:rPr>
              <a:t> RPA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2000" y="619200"/>
            <a:ext cx="10800000" cy="46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>
                <a:solidFill>
                  <a:srgbClr val="141B34"/>
                </a:solidFill>
                <a:latin typeface="Peace Sans"/>
              </a:rPr>
              <a:t>Работа диалогом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2000" y="1072800"/>
            <a:ext cx="11304000" cy="46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41B34"/>
                </a:solidFill>
                <a:latin typeface="Intro"/>
              </a:rPr>
              <a:t>Вычисления, фильтры и сохранение идут обычными фразами, бот показывает, что именно он сделал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0000" y="1638000"/>
            <a:ext cx="11646000" cy="1800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8000" y="1764000"/>
            <a:ext cx="7200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3D5AFE"/>
                </a:solidFill>
                <a:latin typeface="Intro"/>
              </a:rPr>
              <a:t>«Добавь колонку с процентом выполнения плана»</a:t>
            </a:r>
          </a:p>
        </p:txBody>
      </p:sp>
      <p:pic>
        <p:nvPicPr>
          <p:cNvPr id="15" name="Picture 14" descr="s_colum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000" y="2075924"/>
            <a:ext cx="11232000" cy="92415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68000" y="3078000"/>
            <a:ext cx="1116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41B34"/>
                </a:solidFill>
                <a:latin typeface="Evolventa"/>
              </a:rPr>
              <a:t>Новая колонка выделена в таблице и сразу появляется в переключателе «Метрика», ее можно отменить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70000" y="3581999"/>
            <a:ext cx="5742000" cy="2790000"/>
          </a:xfrm>
          <a:prstGeom prst="roundRect">
            <a:avLst>
              <a:gd name="adj" fmla="val 645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8000" y="3708000"/>
            <a:ext cx="5400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3D5AFE"/>
                </a:solidFill>
                <a:latin typeface="Intro"/>
              </a:rPr>
              <a:t>Каскадный фильтр с поиском</a:t>
            </a:r>
          </a:p>
        </p:txBody>
      </p:sp>
      <p:pic>
        <p:nvPicPr>
          <p:cNvPr id="19" name="Picture 18" descr="s_casca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0135" y="3996000"/>
            <a:ext cx="3899728" cy="2268000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6173999" y="3581999"/>
            <a:ext cx="5742000" cy="2790000"/>
          </a:xfrm>
          <a:prstGeom prst="roundRect">
            <a:avLst>
              <a:gd name="adj" fmla="val 645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2000" y="3708000"/>
            <a:ext cx="5400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3D5AFE"/>
                </a:solidFill>
                <a:latin typeface="Intro"/>
              </a:rPr>
              <a:t>«Сохрани как Продажи Центр», «покажи мои дашборды»</a:t>
            </a:r>
          </a:p>
        </p:txBody>
      </p:sp>
      <p:pic>
        <p:nvPicPr>
          <p:cNvPr id="22" name="Picture 21" descr="s_lis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2000" y="4132851"/>
            <a:ext cx="5364000" cy="806297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372000" y="5184000"/>
            <a:ext cx="5364000" cy="11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050" b="0">
                <a:solidFill>
                  <a:srgbClr val="141B34"/>
                </a:solidFill>
                <a:latin typeface="Evolventa"/>
              </a:rPr>
              <a:t>Открытый дашборд восстанавливается с таблицей, вычислениями, графиками и фильтрами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050" b="0">
                <a:solidFill>
                  <a:srgbClr val="141B34"/>
                </a:solidFill>
                <a:latin typeface="Evolventa"/>
              </a:rPr>
              <a:t>Есть переименование, удаление, копия, поиск по тексту запроса и 20 версий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2000" y="6498000"/>
            <a:ext cx="990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141B34"/>
                </a:solidFill>
                <a:latin typeface="Evolventa"/>
              </a:rPr>
              <a:t>Источники  [2] скриншоты работающего бота, сценарий из приложения к кейсу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72000" y="6498000"/>
            <a:ext cx="88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141B34"/>
                </a:solidFill>
                <a:latin typeface="Intro"/>
              </a:rPr>
              <a:t>07 / 09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0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0000" y="151200"/>
            <a:ext cx="7236540" cy="381600"/>
          </a:xfrm>
          <a:prstGeom prst="roundRect">
            <a:avLst>
              <a:gd name="adj" fmla="val 50000"/>
            </a:avLst>
          </a:prstGeom>
          <a:solidFill>
            <a:srgbClr val="FFFFFF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3999" y="190800"/>
            <a:ext cx="102294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3D5AFE"/>
                </a:solidFill>
                <a:latin typeface="Intro"/>
              </a:rPr>
              <a:t>01  </a:t>
            </a:r>
            <a:r>
              <a:rPr sz="1050" b="0">
                <a:solidFill>
                  <a:srgbClr val="141B34"/>
                </a:solidFill>
                <a:latin typeface="Intro"/>
              </a:rPr>
              <a:t>Задача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80139" y="190800"/>
            <a:ext cx="110043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3D5AFE"/>
                </a:solidFill>
                <a:latin typeface="Intro"/>
              </a:rPr>
              <a:t>02  </a:t>
            </a:r>
            <a:r>
              <a:rPr sz="1050" b="0">
                <a:solidFill>
                  <a:srgbClr val="141B34"/>
                </a:solidFill>
                <a:latin typeface="Intro"/>
              </a:rPr>
              <a:t>Решение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23770" y="190800"/>
            <a:ext cx="148788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3D5AFE"/>
                </a:solidFill>
                <a:latin typeface="Intro"/>
              </a:rPr>
              <a:t>03  </a:t>
            </a:r>
            <a:r>
              <a:rPr sz="1050" b="0">
                <a:solidFill>
                  <a:srgbClr val="141B34"/>
                </a:solidFill>
                <a:latin typeface="Intro"/>
              </a:rPr>
              <a:t>Безопасность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54850" y="190800"/>
            <a:ext cx="86796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3D5AFE"/>
                </a:solidFill>
                <a:latin typeface="Intro"/>
              </a:rPr>
              <a:t>04  </a:t>
            </a:r>
            <a:r>
              <a:rPr sz="1050" b="0">
                <a:solidFill>
                  <a:srgbClr val="141B34"/>
                </a:solidFill>
                <a:latin typeface="Intro"/>
              </a:rPr>
              <a:t>Демо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66010" y="190800"/>
            <a:ext cx="1177920" cy="302400"/>
          </a:xfrm>
          <a:prstGeom prst="roundRect">
            <a:avLst>
              <a:gd name="adj" fmla="val 50000"/>
            </a:avLst>
          </a:prstGeom>
          <a:solidFill>
            <a:srgbClr val="3D5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66010" y="190800"/>
            <a:ext cx="117792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FFFFFF"/>
                </a:solidFill>
                <a:latin typeface="Intro"/>
              </a:rPr>
              <a:t>05  </a:t>
            </a:r>
            <a:r>
              <a:rPr sz="1050" b="0">
                <a:solidFill>
                  <a:srgbClr val="FFFFFF"/>
                </a:solidFill>
                <a:latin typeface="Intro"/>
              </a:rPr>
              <a:t>Точность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87130" y="190800"/>
            <a:ext cx="125541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3D5AFE"/>
                </a:solidFill>
                <a:latin typeface="Intro"/>
              </a:rPr>
              <a:t>06  </a:t>
            </a:r>
            <a:r>
              <a:rPr sz="1050" b="0">
                <a:solidFill>
                  <a:srgbClr val="141B34"/>
                </a:solidFill>
                <a:latin typeface="Intro"/>
              </a:rPr>
              <a:t>Внедрение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80000" y="198000"/>
            <a:ext cx="2592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500" b="0">
                <a:solidFill>
                  <a:srgbClr val="141B34"/>
                </a:solidFill>
                <a:latin typeface="Peace Sans"/>
              </a:rPr>
              <a:t>Puzzle</a:t>
            </a:r>
            <a:r>
              <a:rPr sz="1500" b="0">
                <a:solidFill>
                  <a:srgbClr val="FF8A3D"/>
                </a:solidFill>
                <a:latin typeface="Peace Sans"/>
              </a:rPr>
              <a:t> RPA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2000" y="619200"/>
            <a:ext cx="10800000" cy="46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>
                <a:solidFill>
                  <a:srgbClr val="141B34"/>
                </a:solidFill>
                <a:latin typeface="Peace Sans"/>
              </a:rPr>
              <a:t>Точность разбора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2000" y="1072800"/>
            <a:ext cx="11304000" cy="46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41B34"/>
                </a:solidFill>
                <a:latin typeface="Intro"/>
              </a:rPr>
              <a:t>Язык кейса бот знает полностью, слабее всего первый запрос на дашборд, туда и направлена LLM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0000" y="1638000"/>
            <a:ext cx="11646000" cy="990000"/>
          </a:xfrm>
          <a:prstGeom prst="roundRect">
            <a:avLst>
              <a:gd name="adj" fmla="val 1818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8000" y="1745999"/>
            <a:ext cx="1655999" cy="46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>
                <a:solidFill>
                  <a:srgbClr val="12A150"/>
                </a:solidFill>
                <a:latin typeface="Peace Sans"/>
              </a:rPr>
              <a:t>38 из 38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32000" y="1782000"/>
            <a:ext cx="1980000" cy="68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41B34"/>
                </a:solidFill>
                <a:latin typeface="Evolventa"/>
              </a:rPr>
              <a:t>запросов из приложения к кейсу разобраны верно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38000" y="1745999"/>
            <a:ext cx="1655999" cy="46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>
                <a:solidFill>
                  <a:srgbClr val="3D5AFE"/>
                </a:solidFill>
                <a:latin typeface="Peace Sans"/>
              </a:rPr>
              <a:t>25 из 35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02000" y="1782000"/>
            <a:ext cx="1980000" cy="68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41B34"/>
                </a:solidFill>
                <a:latin typeface="Evolventa"/>
              </a:rPr>
              <a:t>новых фраз верно с первого прогона, без LLM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08000" y="1745999"/>
            <a:ext cx="1655999" cy="46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>
                <a:solidFill>
                  <a:srgbClr val="FF8A3D"/>
                </a:solidFill>
                <a:latin typeface="Peace Sans"/>
              </a:rPr>
              <a:t>4 из 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972000" y="1782000"/>
            <a:ext cx="1980000" cy="68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41B34"/>
                </a:solidFill>
                <a:latin typeface="Evolventa"/>
              </a:rPr>
              <a:t>ошибок бот сам отметил как непонятные и передал бы LLM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70000" y="2754000"/>
            <a:ext cx="5544000" cy="3618000"/>
          </a:xfrm>
          <a:prstGeom prst="roundRect">
            <a:avLst>
              <a:gd name="adj" fmla="val 497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8000" y="2880000"/>
            <a:ext cx="522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3D5AFE"/>
                </a:solidFill>
                <a:latin typeface="Intro"/>
              </a:rPr>
              <a:t>Сравнение точности по группам команд на новых фразах</a:t>
            </a:r>
          </a:p>
        </p:txBody>
      </p:sp>
      <p:graphicFrame>
        <p:nvGraphicFramePr>
          <p:cNvPr id="22" name="Chart 21"/>
          <p:cNvGraphicFramePr>
            <a:graphicFrameLocks noGrp="1"/>
          </p:cNvGraphicFramePr>
          <p:nvPr/>
        </p:nvGraphicFramePr>
        <p:xfrm>
          <a:off x="360000" y="3168000"/>
          <a:ext cx="5364000" cy="3096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3" name="Rounded Rectangle 22"/>
          <p:cNvSpPr/>
          <p:nvPr/>
        </p:nvSpPr>
        <p:spPr>
          <a:xfrm>
            <a:off x="5958000" y="2754000"/>
            <a:ext cx="5958000" cy="3618000"/>
          </a:xfrm>
          <a:prstGeom prst="roundRect">
            <a:avLst>
              <a:gd name="adj" fmla="val 497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56000" y="2880000"/>
            <a:ext cx="558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3D5AFE"/>
                </a:solidFill>
                <a:latin typeface="Intro"/>
              </a:rPr>
              <a:t>Типы ошибок и что с ними делает бот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56000" y="3276000"/>
            <a:ext cx="3240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41B34"/>
                </a:solidFill>
                <a:latin typeface="Intro"/>
              </a:rPr>
              <a:t>Незнакомое слово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72000" y="3167999"/>
            <a:ext cx="864000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400" b="0">
                <a:solidFill>
                  <a:srgbClr val="FF8A3D"/>
                </a:solidFill>
                <a:latin typeface="Peace Sans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56000" y="3546000"/>
            <a:ext cx="4680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D5AFE"/>
                </a:solidFill>
                <a:latin typeface="Evolventa"/>
              </a:rPr>
              <a:t>«Выведи план и факт по молочной продукции»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56000" y="3797999"/>
            <a:ext cx="5544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41B34"/>
                </a:solidFill>
                <a:latin typeface="Evolventa"/>
              </a:rPr>
              <a:t>LLM разбирает фразу, ответ проверяет каталог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56000" y="4266000"/>
            <a:ext cx="3240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41B34"/>
                </a:solidFill>
                <a:latin typeface="Intro"/>
              </a:rPr>
              <a:t>Перепутан смысл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72000" y="4157999"/>
            <a:ext cx="864000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400" b="0">
                <a:solidFill>
                  <a:srgbClr val="FF8A3D"/>
                </a:solidFill>
                <a:latin typeface="Peace Sans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56000" y="4536000"/>
            <a:ext cx="4680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D5AFE"/>
                </a:solidFill>
                <a:latin typeface="Evolventa"/>
              </a:rPr>
              <a:t>«Какие выводы по дашборду?» запускал новый дашборд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56000" y="4788000"/>
            <a:ext cx="5544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41B34"/>
                </a:solidFill>
                <a:latin typeface="Evolventa"/>
              </a:rPr>
              <a:t>бот показывает, как понял запрос, шаг отменяется одной фразой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56000" y="5256000"/>
            <a:ext cx="3240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41B34"/>
                </a:solidFill>
                <a:latin typeface="Intro"/>
              </a:rPr>
              <a:t>Ложное совпадение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72000" y="5148000"/>
            <a:ext cx="864000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400" b="0">
                <a:solidFill>
                  <a:srgbClr val="FF8A3D"/>
                </a:solidFill>
                <a:latin typeface="Peace Sans"/>
              </a:rPr>
              <a:t>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56000" y="5526000"/>
            <a:ext cx="4680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D5AFE"/>
                </a:solidFill>
                <a:latin typeface="Evolventa"/>
              </a:rPr>
              <a:t>«супермаркетов» находило клиента «Маркет»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56000" y="5778000"/>
            <a:ext cx="5544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41B34"/>
                </a:solidFill>
                <a:latin typeface="Evolventa"/>
              </a:rPr>
              <a:t>поиск имен только по целым словам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56000" y="6066000"/>
            <a:ext cx="5544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2A150"/>
                </a:solidFill>
                <a:latin typeface="Intro"/>
              </a:rPr>
              <a:t>Все 10 ошибок исправлены, теперь проходят 73 запроса из 73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2000" y="6498000"/>
            <a:ext cx="990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141B34"/>
                </a:solidFill>
                <a:latin typeface="Evolventa"/>
              </a:rPr>
              <a:t>Источники  [2] tests/eval_queries.py, 38 запросов кейса и 35 новых фраз в двух отложенных выборках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872000" y="6498000"/>
            <a:ext cx="88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141B34"/>
                </a:solidFill>
                <a:latin typeface="Intro"/>
              </a:rPr>
              <a:t>08 / 09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5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0000" y="151200"/>
            <a:ext cx="7236540" cy="381600"/>
          </a:xfrm>
          <a:prstGeom prst="roundRect">
            <a:avLst>
              <a:gd name="adj" fmla="val 50000"/>
            </a:avLst>
          </a:prstGeom>
          <a:solidFill>
            <a:srgbClr val="FFFFFF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3999" y="190800"/>
            <a:ext cx="102294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FFFFFF"/>
                </a:solidFill>
                <a:latin typeface="Intro"/>
              </a:rPr>
              <a:t>01  </a:t>
            </a:r>
            <a:r>
              <a:rPr sz="1050" b="0">
                <a:solidFill>
                  <a:srgbClr val="FFFFFF"/>
                </a:solidFill>
                <a:latin typeface="Intro"/>
              </a:rPr>
              <a:t>Задача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80139" y="190800"/>
            <a:ext cx="110043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FFFFFF"/>
                </a:solidFill>
                <a:latin typeface="Intro"/>
              </a:rPr>
              <a:t>02  </a:t>
            </a:r>
            <a:r>
              <a:rPr sz="1050" b="0">
                <a:solidFill>
                  <a:srgbClr val="FFFFFF"/>
                </a:solidFill>
                <a:latin typeface="Intro"/>
              </a:rPr>
              <a:t>Решение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23770" y="190800"/>
            <a:ext cx="148788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FFFFFF"/>
                </a:solidFill>
                <a:latin typeface="Intro"/>
              </a:rPr>
              <a:t>03  </a:t>
            </a:r>
            <a:r>
              <a:rPr sz="1050" b="0">
                <a:solidFill>
                  <a:srgbClr val="FFFFFF"/>
                </a:solidFill>
                <a:latin typeface="Intro"/>
              </a:rPr>
              <a:t>Безопасность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54850" y="190800"/>
            <a:ext cx="86796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FFFFFF"/>
                </a:solidFill>
                <a:latin typeface="Intro"/>
              </a:rPr>
              <a:t>04  </a:t>
            </a:r>
            <a:r>
              <a:rPr sz="1050" b="0">
                <a:solidFill>
                  <a:srgbClr val="FFFFFF"/>
                </a:solidFill>
                <a:latin typeface="Intro"/>
              </a:rPr>
              <a:t>Демо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66010" y="190800"/>
            <a:ext cx="117792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FFFFFF"/>
                </a:solidFill>
                <a:latin typeface="Intro"/>
              </a:rPr>
              <a:t>05  </a:t>
            </a:r>
            <a:r>
              <a:rPr sz="1050" b="0">
                <a:solidFill>
                  <a:srgbClr val="FFFFFF"/>
                </a:solidFill>
                <a:latin typeface="Intro"/>
              </a:rPr>
              <a:t>Точность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87130" y="190800"/>
            <a:ext cx="1255410" cy="302400"/>
          </a:xfrm>
          <a:prstGeom prst="roundRect">
            <a:avLst>
              <a:gd name="adj" fmla="val 50000"/>
            </a:avLst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87130" y="190800"/>
            <a:ext cx="125541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FFFFFF"/>
                </a:solidFill>
                <a:latin typeface="Intro"/>
              </a:rPr>
              <a:t>06  </a:t>
            </a:r>
            <a:r>
              <a:rPr sz="1050" b="0">
                <a:solidFill>
                  <a:srgbClr val="FFFFFF"/>
                </a:solidFill>
                <a:latin typeface="Intro"/>
              </a:rPr>
              <a:t>Внедрение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80000" y="198000"/>
            <a:ext cx="2592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500" b="0">
                <a:solidFill>
                  <a:srgbClr val="FFFFFF"/>
                </a:solidFill>
                <a:latin typeface="Peace Sans"/>
              </a:rPr>
              <a:t>Puzzle</a:t>
            </a:r>
            <a:r>
              <a:rPr sz="1500" b="0">
                <a:solidFill>
                  <a:srgbClr val="FF8A3D"/>
                </a:solidFill>
                <a:latin typeface="Peace Sans"/>
              </a:rPr>
              <a:t> RPA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2000" y="619200"/>
            <a:ext cx="10800000" cy="46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>
                <a:solidFill>
                  <a:srgbClr val="FFFFFF"/>
                </a:solidFill>
                <a:latin typeface="Peace Sans"/>
              </a:rPr>
              <a:t>Путь к клиентам Puzzle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2000" y="1072800"/>
            <a:ext cx="11304000" cy="46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FFFFF"/>
                </a:solidFill>
                <a:latin typeface="Intro"/>
              </a:rPr>
              <a:t>Решение переносится в промышленный контур без переписывания логики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0000" y="1655999"/>
            <a:ext cx="2754000" cy="2736000"/>
          </a:xfrm>
          <a:prstGeom prst="roundRect">
            <a:avLst>
              <a:gd name="adj" fmla="val 6578"/>
            </a:avLst>
          </a:prstGeom>
          <a:solidFill>
            <a:srgbClr val="FFFFFF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32000" y="1818000"/>
            <a:ext cx="648000" cy="396000"/>
          </a:xfrm>
          <a:prstGeom prst="roundRect">
            <a:avLst>
              <a:gd name="adj" fmla="val 50000"/>
            </a:avLst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000" rIns="36000" tIns="0" bIns="0"/>
          <a:lstStyle/>
          <a:p>
            <a:pPr algn="ctr"/>
            <a:r>
              <a:rPr sz="1500">
                <a:solidFill>
                  <a:srgbClr val="FFFFFF"/>
                </a:solidFill>
                <a:latin typeface="Peace Sans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000" y="2376000"/>
            <a:ext cx="2448000" cy="57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FFFFFF"/>
                </a:solidFill>
                <a:latin typeface="Intro"/>
              </a:rPr>
              <a:t>Oracle клиента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2000" y="3024000"/>
            <a:ext cx="2448000" cy="12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FFFFFF"/>
                </a:solidFill>
                <a:latin typeface="Evolventa"/>
              </a:rPr>
              <a:t>описать таблицы клиента в каталоге, SQL собирается тем же кодом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150000" y="1655999"/>
            <a:ext cx="2754000" cy="2736000"/>
          </a:xfrm>
          <a:prstGeom prst="roundRect">
            <a:avLst>
              <a:gd name="adj" fmla="val 6578"/>
            </a:avLst>
          </a:prstGeom>
          <a:solidFill>
            <a:srgbClr val="FFFFFF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311999" y="1818000"/>
            <a:ext cx="648000" cy="396000"/>
          </a:xfrm>
          <a:prstGeom prst="roundRect">
            <a:avLst>
              <a:gd name="adj" fmla="val 50000"/>
            </a:avLst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000" rIns="36000" tIns="0" bIns="0"/>
          <a:lstStyle/>
          <a:p>
            <a:pPr algn="ctr"/>
            <a:r>
              <a:rPr sz="1500">
                <a:solidFill>
                  <a:srgbClr val="FFFFFF"/>
                </a:solidFill>
                <a:latin typeface="Peace Sans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11999" y="2376000"/>
            <a:ext cx="2448000" cy="57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FFFFFF"/>
                </a:solidFill>
                <a:latin typeface="Intro"/>
              </a:rPr>
              <a:t>Корпоративный чат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11999" y="3024000"/>
            <a:ext cx="2448000" cy="12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FFFFFF"/>
                </a:solidFill>
                <a:latin typeface="Evolventa"/>
              </a:rPr>
              <a:t>подключить API бота к чат-боту Puzzle или Telegram Mini App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30000" y="1655999"/>
            <a:ext cx="2754000" cy="2736000"/>
          </a:xfrm>
          <a:prstGeom prst="roundRect">
            <a:avLst>
              <a:gd name="adj" fmla="val 6578"/>
            </a:avLst>
          </a:prstGeom>
          <a:solidFill>
            <a:srgbClr val="FFFFFF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192000" y="1818000"/>
            <a:ext cx="648000" cy="396000"/>
          </a:xfrm>
          <a:prstGeom prst="roundRect">
            <a:avLst>
              <a:gd name="adj" fmla="val 50000"/>
            </a:avLst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000" rIns="36000" tIns="0" bIns="0"/>
          <a:lstStyle/>
          <a:p>
            <a:pPr algn="ctr"/>
            <a:r>
              <a:rPr sz="1500">
                <a:solidFill>
                  <a:srgbClr val="FFFFFF"/>
                </a:solidFill>
                <a:latin typeface="Peace Sans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92000" y="2376000"/>
            <a:ext cx="2448000" cy="57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FFFFFF"/>
                </a:solidFill>
                <a:latin typeface="Intro"/>
              </a:rPr>
              <a:t>LLM в контуре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92000" y="3024000"/>
            <a:ext cx="2448000" cy="12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FFFFFF"/>
                </a:solidFill>
                <a:latin typeface="Evolventa"/>
              </a:rPr>
              <a:t>Ollama на сервере клиента, данные не покидают компанию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10000" y="1655999"/>
            <a:ext cx="2754000" cy="2736000"/>
          </a:xfrm>
          <a:prstGeom prst="roundRect">
            <a:avLst>
              <a:gd name="adj" fmla="val 6578"/>
            </a:avLst>
          </a:prstGeom>
          <a:solidFill>
            <a:srgbClr val="FFFFFF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072000" y="1818000"/>
            <a:ext cx="648000" cy="396000"/>
          </a:xfrm>
          <a:prstGeom prst="roundRect">
            <a:avLst>
              <a:gd name="adj" fmla="val 50000"/>
            </a:avLst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000" rIns="36000" tIns="0" bIns="0"/>
          <a:lstStyle/>
          <a:p>
            <a:pPr algn="ctr"/>
            <a:r>
              <a:rPr sz="1500">
                <a:solidFill>
                  <a:srgbClr val="FFFFFF"/>
                </a:solidFill>
                <a:latin typeface="Peace Sans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72000" y="2376000"/>
            <a:ext cx="2448000" cy="57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FFFFFF"/>
                </a:solidFill>
                <a:latin typeface="Intro"/>
              </a:rPr>
              <a:t>Права доступа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72000" y="3024000"/>
            <a:ext cx="2448000" cy="12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FFFFFF"/>
                </a:solidFill>
                <a:latin typeface="Evolventa"/>
              </a:rPr>
              <a:t>роль базы на пользователя, бот видит только разрешенные строки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70000" y="4536000"/>
            <a:ext cx="11646000" cy="1835999"/>
          </a:xfrm>
          <a:prstGeom prst="roundRect">
            <a:avLst>
              <a:gd name="adj" fmla="val 9803"/>
            </a:avLst>
          </a:prstGeom>
          <a:solidFill>
            <a:srgbClr val="FFFFFF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8000" y="4680000"/>
            <a:ext cx="540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F8A3D"/>
                </a:solidFill>
                <a:latin typeface="Intro"/>
              </a:rPr>
              <a:t>Запустить у себя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8000" y="5004000"/>
            <a:ext cx="5400000" cy="12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Menlo"/>
              </a:rPr>
              <a:t>pip install -r requirements.txt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Menlo"/>
              </a:rPr>
              <a:t>uvicorn app.main:app --port 8000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Menlo"/>
              </a:rPr>
              <a:t>открыть localhost:8000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92000" y="4680000"/>
            <a:ext cx="540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F8A3D"/>
                </a:solidFill>
                <a:latin typeface="Intro"/>
              </a:rPr>
              <a:t>Код, данные и тесты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92000" y="5004000"/>
            <a:ext cx="5544000" cy="12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50" b="0">
                <a:solidFill>
                  <a:srgbClr val="FFFFFF"/>
                </a:solidFill>
                <a:latin typeface="Evolventa"/>
              </a:rPr>
              <a:t>github.com/alkornilovich/Cases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50" b="0">
                <a:solidFill>
                  <a:srgbClr val="FFFFFF"/>
                </a:solidFill>
                <a:latin typeface="Evolventa"/>
              </a:rPr>
              <a:t>python -m tests.eval_queries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50" b="0">
                <a:solidFill>
                  <a:srgbClr val="FFFFFF"/>
                </a:solidFill>
                <a:latin typeface="Evolventa"/>
              </a:rPr>
              <a:t>python -m tests.test_security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2000" y="6498000"/>
            <a:ext cx="990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FFFFFF"/>
                </a:solidFill>
                <a:latin typeface="Evolventa"/>
              </a:rPr>
              <a:t>Источники  [2] код решения на GitHub; [3] документация Ollama и Groq о бесплатном доступе к моделям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72000" y="6498000"/>
            <a:ext cx="88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FFFFFF"/>
                </a:solidFill>
                <a:latin typeface="Intro"/>
              </a:rPr>
              <a:t>09 / 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