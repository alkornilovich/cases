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</c:v>
                </c:pt>
              </c:strCache>
            </c:strRef>
          </c:tx>
          <c:dPt>
            <c:idx val="0"/>
            <c:spPr>
              <a:solidFill>
                <a:srgbClr val="12A150"/>
              </a:solidFill>
            </c:spPr>
          </c:dPt>
          <c:dPt>
            <c:idx val="1"/>
            <c:spPr>
              <a:solidFill>
                <a:srgbClr val="3D5AFE"/>
              </a:solidFill>
            </c:spPr>
          </c:dPt>
          <c:dPt>
            <c:idx val="2"/>
            <c:spPr>
              <a:solidFill>
                <a:srgbClr val="FF8A3D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100%</a:t>
                    </a:r>
                  </a:p>
                </c:rich>
              </c:tx>
              <c:txPr>
                <a:bodyPr/>
                <a:lstStyle/>
                <a:p>
                  <a:pPr>
                    <a:defRPr sz="1800">
                      <a:solidFill>
                        <a:srgbClr val="12A150"/>
                      </a:solidFill>
                      <a:latin typeface="Peace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t>75%</a:t>
                    </a:r>
                  </a:p>
                </c:rich>
              </c:tx>
              <c:txPr>
                <a:bodyPr/>
                <a:lstStyle/>
                <a:p>
                  <a:pPr>
                    <a:defRPr sz="1800">
                      <a:solidFill>
                        <a:srgbClr val="3D5AFE"/>
                      </a:solidFill>
                      <a:latin typeface="Peace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t>67%</a:t>
                    </a:r>
                  </a:p>
                </c:rich>
              </c:tx>
              <c:txPr>
                <a:bodyPr/>
                <a:lstStyle/>
                <a:p>
                  <a:pPr>
                    <a:defRPr sz="1800">
                      <a:solidFill>
                        <a:srgbClr val="FF8A3D"/>
                      </a:solidFill>
                      <a:latin typeface="Peace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Запросы из кейса
38</c:v>
                </c:pt>
                <c:pt idx="1">
                  <c:v>Перефразировки
20</c:v>
                </c:pt>
                <c:pt idx="2">
                  <c:v>Слепая выборка
15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0.75</c:v>
                </c:pt>
                <c:pt idx="2">
                  <c:v>0.67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FE3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41B34"/>
          </a:solidFill>
          <a:latin typeface="Evolvent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20 секунд. Решение кейса Puzzle RPA: чат-бот, который по вопросу на русском строит интерактивный дашборд прямо в чате. Главная идея: LLM не пишет код, поэтому решение безопасно по устройству. Код и данные лежат на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Заказчик хочет, чтобы руководитель получал ответ здесь и сейчас прямо в чате. Я закрыл весь минимальный и весь целевой результат, и 7 из 10 пунктов сверх MVP. Не сделаны автосохранение черновика, публикация ссылкой и шаблоны запросов, они в плане внедрения.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1 минута. Ключевая идея. Вопрос превращается в команду из каталога, каталог проверяет каждый разрез и метрику, SQL собирает код. Вычисления тоже без кода: «факт минус план, делить на план, умножить на сто» превращается в дерево из четырех действий. Для Puzzle это важно: у клиента Oracle, и подключение новой базы сводится к описанию каталога.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40 секунд. Бот разбит на маленькие модули. Каталог, разбор текста, LLM, база, вычисления, диалог, хранилище и дашборд. Фронтенд без сборки, Plotly лежит в проекте, поэтому дашборд и экспорт работают без интернета.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В кейсе отдельно сказано, что генерируемый код не должен удалять, менять, ходить в сеть и зависать. У меня каждое требование закрыто механизмом и тестом. Все 11 проверок проходят, их можно запустить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Так выглядит ответ. Сверху KPI, план 1,25 млрд, факт 1,13, выполнение 90,4%. Ниже фильтры с поиском и переключатели. Четыре графика из одной таблицы, внизу резюме. Резюме считает код, поэтому цифры в тексте всегда совпадают с графиками.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Сценарий из кейса. Добавляю колонку с процентом выполнения, бот выделяет ее в таблице. Фильтр по региону сужает список точек. Сохраняю два дашборда и открываю список. Открытый дашборд восстанавливается в том же виде.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Я проверил разбор на трех наборах. Все запросы из кейса проходят. Перефразировки и слепая выборка в первом прогоне дали 75 и 67%. Ошибки я исправил, но честно говорю, что на новых словах правила ошибаются примерно в каждой третьей фразе. Поэтому LLM подключается именно для таких фраз.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40 секунд. Для внедрения у клиента не нужно переписывать бота. Описываем Oracle в каталоге, подключаем к корпоративному чату, ставим LLM в контур клиента и выдаем роли базы. Запуск двумя командами, тесты одной.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9.png"/><Relationship Id="rId4" Type="http://schemas.openxmlformats.org/officeDocument/2006/relationships/image" Target="../media/image1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03999"/>
            <a:ext cx="43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22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6000" y="1044000"/>
            <a:ext cx="2882160" cy="270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Intro"/>
              </a:rPr>
              <a:t>Кейс Puzzle RPA, SK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620000"/>
            <a:ext cx="5580000" cy="2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141B34"/>
                </a:solidFill>
                <a:latin typeface="Peace Sans"/>
              </a:rPr>
              <a:t>BI чат-бот с дашбордами по вопросу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381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141B34"/>
                </a:solidFill>
                <a:latin typeface="Intro"/>
              </a:rPr>
              <a:t>Менеджер пишет вопрос на русском и получает живой дашборд прямо в переписке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184000"/>
            <a:ext cx="43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Автор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472000"/>
            <a:ext cx="43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Evolventa"/>
              </a:rPr>
              <a:t>Александр Корнилович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5868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D5AFE"/>
                </a:solidFill>
                <a:latin typeface="Evolventa"/>
              </a:rPr>
              <a:t>github.com/alkornilovich/cases/tree/main/sk-challenge-puzzle-bi-bot</a:t>
            </a:r>
          </a:p>
        </p:txBody>
      </p:sp>
      <p:pic>
        <p:nvPicPr>
          <p:cNvPr id="9" name="Picture 8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0" y="983520"/>
            <a:ext cx="6361200" cy="508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3999" y="190800"/>
            <a:ext cx="102294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01  </a:t>
            </a:r>
            <a:r>
              <a:rPr sz="1050" b="0">
                <a:solidFill>
                  <a:srgbClr val="FFFFFF"/>
                </a:solidFill>
                <a:latin typeface="Intro"/>
              </a:rPr>
              <a:t>Задача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Задача и что сделано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Руководитель спрашивает в чате и сразу получает живой дашборд, без похода в BI и без ожидания аналитика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5112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82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Что просит заказчик</a:t>
            </a:r>
          </a:p>
        </p:txBody>
      </p:sp>
      <p:pic>
        <p:nvPicPr>
          <p:cNvPr id="15" name="Picture 14" descr="i_message-square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2196000"/>
            <a:ext cx="342000" cy="34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72000" y="2178000"/>
            <a:ext cx="424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Вопрос словами, ответ дашбордом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000" y="2448000"/>
            <a:ext cx="42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«План-факт по регионам за год» превращается в KPI, фильтры и 4 графика</a:t>
            </a:r>
          </a:p>
        </p:txBody>
      </p:sp>
      <p:pic>
        <p:nvPicPr>
          <p:cNvPr id="18" name="Picture 17" descr="i_sigma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3221999"/>
            <a:ext cx="342000" cy="34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2000" y="3203999"/>
            <a:ext cx="424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Работа с данными диалогом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3473999"/>
            <a:ext cx="42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Добавить колонку, поменять формулу, перестроить график, все без кода</a:t>
            </a:r>
          </a:p>
        </p:txBody>
      </p:sp>
      <p:pic>
        <p:nvPicPr>
          <p:cNvPr id="21" name="Picture 20" descr="i_save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00" y="4248000"/>
            <a:ext cx="342000" cy="34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2000" y="4229999"/>
            <a:ext cx="424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Дашборд как результат работы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0" y="4499999"/>
            <a:ext cx="42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Сохранить, найти, открыть в том же виде, сделать копию</a:t>
            </a:r>
          </a:p>
        </p:txBody>
      </p:sp>
      <p:pic>
        <p:nvPicPr>
          <p:cNvPr id="24" name="Picture 23" descr="i_shield-check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00" y="5273999"/>
            <a:ext cx="342000" cy="342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72000" y="5255999"/>
            <a:ext cx="424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Безопасно для крупной компании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000" y="5525999"/>
            <a:ext cx="42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Код не удаляет и не меняет данные, не ходит в сеть, не зависает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26000" y="1638000"/>
            <a:ext cx="6390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24000" y="1782000"/>
            <a:ext cx="57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Покрытие требований кейса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24000" y="2196000"/>
            <a:ext cx="378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Минимальный результат (MVP)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92000" y="207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600" b="0">
                <a:solidFill>
                  <a:srgbClr val="12A150"/>
                </a:solidFill>
                <a:latin typeface="Peace Sans"/>
              </a:rPr>
              <a:t>7 из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24000" y="2466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вопрос, уточнение, таблица, интерактивный график, сохранение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24000" y="3221999"/>
            <a:ext cx="378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Целевой результат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2000" y="3096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600" b="0">
                <a:solidFill>
                  <a:srgbClr val="12A150"/>
                </a:solidFill>
                <a:latin typeface="Peace Sans"/>
              </a:rPr>
              <a:t>9 из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4000" y="3491999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4 графика, KPI, фильтры с поиском, переключатели, вычисления, резюме, список дашбордов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24000" y="4248000"/>
            <a:ext cx="378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Сверх MVP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92000" y="4121999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600" b="0">
                <a:solidFill>
                  <a:srgbClr val="3D5AFE"/>
                </a:solidFill>
                <a:latin typeface="Peace Sans"/>
              </a:rPr>
              <a:t>7 из 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24000" y="4518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уточнения, резюме, HTML, Excel, история версий, каскад, синхронный зум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24000" y="5273999"/>
            <a:ext cx="378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Не сделано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92000" y="5148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600" b="0">
                <a:solidFill>
                  <a:srgbClr val="FF8A3D"/>
                </a:solidFill>
                <a:latin typeface="Peace Sans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4000" y="5543999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автосохранение черновика, публикация ссылкой, шаблоны частых запросов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[1] кейс Puzzle RPA «Чат-бот с интерактивной визуализацией данных», SK Challenge 2026; [2] мои проверки по списку требований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0139" y="190800"/>
            <a:ext cx="110043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Бот не пишет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LLM только выбирает команду из каталога, SQL и формулы собирает обычный код, поэтому чужой код нечему выполнять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2736000"/>
          </a:xfrm>
          <a:prstGeom prst="roundRect">
            <a:avLst>
              <a:gd name="adj" fmla="val 65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_message-square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800" y="2008800"/>
            <a:ext cx="342000" cy="34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1  Вопрос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«План-факт по регионам за последний год»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4000" y="1962000"/>
            <a:ext cx="468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FF8A3D"/>
                </a:solidFill>
                <a:latin typeface="Peace San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5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_braces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800" y="2008800"/>
            <a:ext cx="342000" cy="34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5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2  Команда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дашборд, разрез регион, окт 2025 – сен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4000" y="1962000"/>
            <a:ext cx="468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FF8A3D"/>
                </a:solidFill>
                <a:latin typeface="Peace San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4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_book-open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4800" y="2008800"/>
            <a:ext cx="342000" cy="34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3  Каталог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план, факт, регион есть в каталоге, остальное отброшено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4000" y="1962000"/>
            <a:ext cx="468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FF8A3D"/>
                </a:solidFill>
                <a:latin typeface="Peace Sans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3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_database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4800" y="2008800"/>
            <a:ext cx="342000" cy="342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13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4  SQL кодом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только SELECT, значения параметрами, таймаут 15 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00" y="1962000"/>
            <a:ext cx="468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FF8A3D"/>
                </a:solidFill>
                <a:latin typeface="Peace Sans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2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_tabl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4800" y="2008800"/>
            <a:ext cx="342000" cy="342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2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5  Единая таблица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2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33 787 строк, включая прошлый год для сравнения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4000" y="1962000"/>
            <a:ext cx="468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FF8A3D"/>
                </a:solidFill>
                <a:latin typeface="Peace Sans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1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_layout-dashboard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4800" y="2008800"/>
            <a:ext cx="342000" cy="342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91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6  Дашборд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KPI, фильтры, 4 графика, формулы деревом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0000" y="4500000"/>
            <a:ext cx="5742000" cy="187200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000" y="4644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5383B"/>
                </a:solidFill>
                <a:latin typeface="Intro"/>
              </a:rPr>
              <a:t>Обычный путь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000" y="4968000"/>
            <a:ext cx="5400000" cy="13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141B34"/>
                </a:solidFill>
                <a:latin typeface="Evolventa"/>
              </a:rPr>
              <a:t>LLM пишет SQL и Python, код запускается в песочнице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141B34"/>
                </a:solidFill>
                <a:latin typeface="Evolventa"/>
              </a:rPr>
              <a:t>Любая ошибка модели может удалить или изменить данные, если песочница пропустит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141B34"/>
                </a:solidFill>
                <a:latin typeface="Evolventa"/>
              </a:rPr>
              <a:t>Новая база клиента требует заново учить модель ее схеме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3999" y="4500000"/>
            <a:ext cx="5742000" cy="1872000"/>
          </a:xfrm>
          <a:prstGeom prst="roundRect">
            <a:avLst>
              <a:gd name="adj" fmla="val 9615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72000" y="4644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Intro"/>
              </a:rPr>
              <a:t>Мой путь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2000" y="4968000"/>
            <a:ext cx="5400000" cy="13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Модель выбирает команду, код собирает SQL и формулы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Изолировать нечего, потому что сгенерированного кода нет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Для Oracle клиента меняется только каталог, логика бота та же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код решения, папки app/catalog.py, app/db.py, app/compute.py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0139" y="190800"/>
            <a:ext cx="110043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Как устроен бот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Семь небольших модулей на Python и чат без сборки фронтенда, запуск двумя командами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633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82000"/>
            <a:ext cx="57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Модули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000" y="2160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catalog.py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2000" y="2160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семантический слой, разрезы, метрики, словари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000" y="2664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nlu.py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2000" y="2664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разбор русского текста в команду, правила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" y="3168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llm.py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2000" y="3168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бесплатная LLM, ответ проверяется по каталогу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00" y="3672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db.py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2000" y="3672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база только на чтение, сборка 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000" y="4176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compute.py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2000" y="4176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колонки, доли, динамика, накопительный итог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000" y="4680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bot.py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32000" y="4680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диалог, состояние дашборда, резюме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000" y="5184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store.py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32000" y="5184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сохранение, версии, поиск, копии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000" y="5688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dashboard.js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32000" y="5688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KPI, фильтры, каскад, 4 графика Plotly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50000" y="1638000"/>
            <a:ext cx="516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8000" y="1782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Стек и почему</a:t>
            </a:r>
          </a:p>
        </p:txBody>
      </p:sp>
      <p:pic>
        <p:nvPicPr>
          <p:cNvPr id="33" name="Picture 32" descr="i_server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000" y="2160000"/>
            <a:ext cx="306000" cy="30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80000" y="2142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FastAPI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80000" y="2383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чат и API в одном сервисе</a:t>
            </a:r>
          </a:p>
        </p:txBody>
      </p:sp>
      <p:pic>
        <p:nvPicPr>
          <p:cNvPr id="36" name="Picture 35" descr="i_database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000" y="2844000"/>
            <a:ext cx="306000" cy="30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80000" y="2826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DuckDB или PostgreSQL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80000" y="3067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встроенная база без установки, Postgres по переменной</a:t>
            </a:r>
          </a:p>
        </p:txBody>
      </p:sp>
      <p:pic>
        <p:nvPicPr>
          <p:cNvPr id="39" name="Picture 38" descr="i_table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000" y="3528000"/>
            <a:ext cx="306000" cy="30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380000" y="3510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pandas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80000" y="3751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вычисления после выгрузки, как требует кейс</a:t>
            </a:r>
          </a:p>
        </p:txBody>
      </p:sp>
      <p:pic>
        <p:nvPicPr>
          <p:cNvPr id="42" name="Picture 41" descr="i_layout-dashboard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8000" y="4212000"/>
            <a:ext cx="306000" cy="30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380000" y="4194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Plotly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80000" y="4435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зум, подсказки, легенда, работает без интернета</a:t>
            </a:r>
          </a:p>
        </p:txBody>
      </p:sp>
      <p:pic>
        <p:nvPicPr>
          <p:cNvPr id="45" name="Picture 44" descr="i_bot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8000" y="4896000"/>
            <a:ext cx="306000" cy="306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380000" y="4878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Ollama или Groq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80000" y="5119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бесплатные LLM, Ollama держит данные внутри компании</a:t>
            </a:r>
          </a:p>
        </p:txBody>
      </p:sp>
      <p:pic>
        <p:nvPicPr>
          <p:cNvPr id="48" name="Picture 47" descr="i_file-spreadsheet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8000" y="5580000"/>
            <a:ext cx="306000" cy="30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80000" y="5562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HTML и Excel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80000" y="5803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экспорт дашборда и таблицы с вычислениями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код решения на GitHub, README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3770" y="190800"/>
            <a:ext cx="148788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03  </a:t>
            </a:r>
            <a:r>
              <a:rPr sz="1050" b="0">
                <a:solidFill>
                  <a:srgbClr val="FFFFFF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Безопасность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Каждое предупреждение из кейса закрыто механизмом и проверено тестом, 11 проверок из 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800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Требование кейса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000" y="1800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Как закрыто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2000" y="180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Тест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58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удаляет и не меняет данные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000" y="2358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выполняются только SELECT, роль базы только на чтение</a:t>
            </a:r>
          </a:p>
        </p:txBody>
      </p:sp>
      <p:pic>
        <p:nvPicPr>
          <p:cNvPr id="19" name="Picture 18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2430000"/>
            <a:ext cx="270000" cy="27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52000" y="2358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DELETE и DROP отклонены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999" y="2916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ходит в сеть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6000" y="2916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после загрузки данных база отключает доступ к файлам и сети</a:t>
            </a:r>
          </a:p>
        </p:txBody>
      </p:sp>
      <p:pic>
        <p:nvPicPr>
          <p:cNvPr id="23" name="Picture 22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2987999"/>
            <a:ext cx="270000" cy="27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52000" y="291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чтение файла и URL отклонено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3474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Настройки нельзя ослабить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6000" y="3474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конфигурация базы заблокирована</a:t>
            </a:r>
          </a:p>
        </p:txBody>
      </p:sp>
      <p:pic>
        <p:nvPicPr>
          <p:cNvPr id="27" name="Picture 26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3546000"/>
            <a:ext cx="270000" cy="27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2000" y="3474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смена настройки отклонена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3999" y="4032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Нет SQL-инъекций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6000" y="4032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имена колонок из каталога, значения передаются параметрами</a:t>
            </a:r>
          </a:p>
        </p:txBody>
      </p:sp>
      <p:pic>
        <p:nvPicPr>
          <p:cNvPr id="31" name="Picture 30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4104000"/>
            <a:ext cx="270000" cy="270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252000" y="4032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DROP в тексте не попал в SQL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3999" y="4590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исполняется бесконечно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6000" y="4590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таймаут 15 секунд и лимит 200 тыс. строк</a:t>
            </a:r>
          </a:p>
        </p:txBody>
      </p:sp>
      <p:pic>
        <p:nvPicPr>
          <p:cNvPr id="35" name="Picture 34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4662000"/>
            <a:ext cx="270000" cy="27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252000" y="459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прерывание по таймеру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3999" y="5148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Формулы без кода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6000" y="5148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только + − × ÷, числа и колонки, деление на ноль дает пусто</a:t>
            </a:r>
          </a:p>
        </p:txBody>
      </p:sp>
      <p:pic>
        <p:nvPicPr>
          <p:cNvPr id="39" name="Picture 38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5220000"/>
            <a:ext cx="270000" cy="270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52000" y="5148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возведение в степень и код отклонены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5706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Пустые данные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6000" y="5706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понятный ответ вместо ошибки, графики показывают «нет данных»</a:t>
            </a:r>
          </a:p>
        </p:txBody>
      </p:sp>
      <p:pic>
        <p:nvPicPr>
          <p:cNvPr id="43" name="Picture 42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5778000"/>
            <a:ext cx="270000" cy="270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252000" y="570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запрос за 2010 год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[1] раздел кейса «Ограничения и подсказки»; [2] tests/test_security.py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4850" y="190800"/>
            <a:ext cx="86796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Дашборд в чате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Ответ на «план-факт по регионам и торговым точкам за последний год», все цифры пересчитываются при каждом фильтре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777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d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28" y="1710000"/>
            <a:ext cx="5509743" cy="45900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90000" y="1638000"/>
            <a:ext cx="3726000" cy="4734000"/>
          </a:xfrm>
          <a:prstGeom prst="roundRect">
            <a:avLst>
              <a:gd name="adj" fmla="val 48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88000" y="1800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2000" y="1792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KPI сверху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2000" y="2088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план, факт, выполнение, отклонение, точки, динамика к году; зеленый и красный цвет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8000" y="2934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2000" y="2926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Фильтры и переключатели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2000" y="3222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поиск по 300 точкам, мультивыбор, каскад регион → точка, месяц, квартал, год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88000" y="4068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2000" y="4060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Четыре связанных графика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2000" y="4356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план-факт, структура, ТОП, выполнение плана с линией 100%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8000" y="5202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2000" y="5194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Резюме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2000" y="5490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считает код, текст по шаблону, модель не выдумывает цифры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скриншот работающего бота на данных кейса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4850" y="190800"/>
            <a:ext cx="86796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Работа диалогом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Вычисления, фильтры и сохранение идут обычными фразами, бот показывает, что именно он сделал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18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64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«Добавь колонку с процентом выполнения плана»</a:t>
            </a:r>
          </a:p>
        </p:txBody>
      </p:sp>
      <p:pic>
        <p:nvPicPr>
          <p:cNvPr id="15" name="Picture 14" descr="s_colu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2075924"/>
            <a:ext cx="11232000" cy="92415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078000"/>
            <a:ext cx="111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Новая колонка выделена в таблице и сразу появляется в переключателе «Метрика», ее можно отменить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0000" y="3581999"/>
            <a:ext cx="5742000" cy="27900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3708000"/>
            <a:ext cx="54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Каскадный фильтр с поиском</a:t>
            </a:r>
          </a:p>
        </p:txBody>
      </p:sp>
      <p:pic>
        <p:nvPicPr>
          <p:cNvPr id="19" name="Picture 18" descr="s_casc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20" y="3996000"/>
            <a:ext cx="4173559" cy="226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73999" y="3581999"/>
            <a:ext cx="5742000" cy="27900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2000" y="3708000"/>
            <a:ext cx="54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«Сохрани как Продажи Центр», «покажи мои дашборды»</a:t>
            </a:r>
          </a:p>
        </p:txBody>
      </p:sp>
      <p:pic>
        <p:nvPicPr>
          <p:cNvPr id="22" name="Picture 21" descr="s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4132851"/>
            <a:ext cx="5364000" cy="80629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72000" y="5184000"/>
            <a:ext cx="5364000" cy="11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>
                <a:solidFill>
                  <a:srgbClr val="141B34"/>
                </a:solidFill>
                <a:latin typeface="Evolventa"/>
              </a:rPr>
              <a:t>Открытый дашборд восстанавливается с таблицей, вычислениями, графиками и фильтрами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>
                <a:solidFill>
                  <a:srgbClr val="141B34"/>
                </a:solidFill>
                <a:latin typeface="Evolventa"/>
              </a:rPr>
              <a:t>Есть переименование, удаление, копия, поиск по тексту запроса и 20 версий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скриншоты работающего бота, сценарий из приложения к кейсу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010" y="190800"/>
            <a:ext cx="117792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05  </a:t>
            </a:r>
            <a:r>
              <a:rPr sz="1050" b="0">
                <a:solidFill>
                  <a:srgbClr val="FFFFFF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Точность разбора запросов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Правила знают язык кейса полностью, на новых формулировках их страхует бесплатная LLM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633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82000"/>
            <a:ext cx="59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Сравнение точности по наборам запросов, первый прогон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60000" y="2124000"/>
          <a:ext cx="6120000" cy="338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68000" y="5616000"/>
            <a:ext cx="5940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После первых прогонов я исправил найденные ошибки, сейчас все 73 запроса проходят. Честная оценка для новых фраз без LLM от 67 до 75%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50000" y="1638000"/>
            <a:ext cx="516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8000" y="1782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Что из этого следует</a:t>
            </a:r>
          </a:p>
        </p:txBody>
      </p:sp>
      <p:pic>
        <p:nvPicPr>
          <p:cNvPr id="19" name="Picture 18" descr="i_list-checks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000" y="2160000"/>
            <a:ext cx="306000" cy="30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80000" y="2142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Язык заказчика выучен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0000" y="2394000"/>
            <a:ext cx="43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все 38 запросов из приложения к кейсу проходят без LLM</a:t>
            </a:r>
          </a:p>
        </p:txBody>
      </p:sp>
      <p:pic>
        <p:nvPicPr>
          <p:cNvPr id="22" name="Picture 21" descr="i_bot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000" y="3186000"/>
            <a:ext cx="306000" cy="306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80000" y="31679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LLM нужна для хвоста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0000" y="3420000"/>
            <a:ext cx="43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треть новых формулировок правила не узнают, их разбирает модель</a:t>
            </a:r>
          </a:p>
        </p:txBody>
      </p:sp>
      <p:pic>
        <p:nvPicPr>
          <p:cNvPr id="25" name="Picture 24" descr="i_lock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8000" y="4212000"/>
            <a:ext cx="306000" cy="30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380000" y="41939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Модель внутри компании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80000" y="4446000"/>
            <a:ext cx="43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Ollama бесплатна и работает локально, данные не уходят наружу</a:t>
            </a:r>
          </a:p>
        </p:txBody>
      </p:sp>
      <p:pic>
        <p:nvPicPr>
          <p:cNvPr id="28" name="Picture 27" descr="i_search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8000" y="5238000"/>
            <a:ext cx="306000" cy="30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80000" y="52199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Ошибку видно сразу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80000" y="5472000"/>
            <a:ext cx="43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бот показывает таблицу и SQL, менеджер видит, что понято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tests/eval_queries.py, наборы запросов кейса, перефразировок и слепой выборки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01  </a:t>
            </a:r>
            <a:r>
              <a:rPr sz="1050" b="0">
                <a:solidFill>
                  <a:srgbClr val="FFFFFF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03  </a:t>
            </a:r>
            <a:r>
              <a:rPr sz="1050" b="0">
                <a:solidFill>
                  <a:srgbClr val="FFFFFF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05  </a:t>
            </a:r>
            <a:r>
              <a:rPr sz="1050" b="0">
                <a:solidFill>
                  <a:srgbClr val="FFFFFF"/>
                </a:solidFill>
                <a:latin typeface="Intro"/>
              </a:rPr>
              <a:t>Точность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7130" y="190800"/>
            <a:ext cx="1255410" cy="3024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06  </a:t>
            </a:r>
            <a:r>
              <a:rPr sz="1050" b="0">
                <a:solidFill>
                  <a:srgbClr val="FFFFFF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Peace Sans"/>
              </a:rPr>
              <a:t>Путь к клиентам Puzzle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Intro"/>
              </a:rPr>
              <a:t>Решение переносится в промышленный контур без переписывания логики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Oracle клиента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описать таблицы клиента в каталоге, SQL собирается тем же кодом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5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11999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1999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Корпоративный чат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1999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подключить API бота к чат-боту Puzzle или Telegram Mini 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9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LLM в контуре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Ollama на сервере клиента, данные не покидают компанию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7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Права доступа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роль базы на пользователя, бот видит только разрешенные строки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0000" y="4536000"/>
            <a:ext cx="11646000" cy="1835999"/>
          </a:xfrm>
          <a:prstGeom prst="roundRect">
            <a:avLst>
              <a:gd name="adj" fmla="val 9803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680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8A3D"/>
                </a:solidFill>
                <a:latin typeface="Intro"/>
              </a:rPr>
              <a:t>Запустить у себя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000" y="5004000"/>
            <a:ext cx="540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pip install -r requirements.txt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uvicorn app.main:app --port 8000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открыть localhost:8000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2000" y="4680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8A3D"/>
                </a:solidFill>
                <a:latin typeface="Intro"/>
              </a:rPr>
              <a:t>Код, данные и тесты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2000" y="5004000"/>
            <a:ext cx="5544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github.com/alkornilovich/cases/tree/main/sk-challenge-puzzle-bi-bot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python -m tests.eval_queries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python -m tests.test_security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FFFFFF"/>
                </a:solidFill>
                <a:latin typeface="Evolventa"/>
              </a:rPr>
              <a:t>Источники  [2] код решения на GitHub; [3] документация Ollama и Groq о бесплатном доступе к моделям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FFFFFF"/>
                </a:solidFill>
                <a:latin typeface="Intro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